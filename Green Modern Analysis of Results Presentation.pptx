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Open Sans Bold" charset="1" panose="020B0806030504020204"/>
      <p:regular r:id="rId12"/>
    </p:embeddedFont>
    <p:embeddedFont>
      <p:font typeface="Fredoka" charset="1" panose="02000000000000000000"/>
      <p:regular r:id="rId13"/>
    </p:embeddedFont>
    <p:embeddedFont>
      <p:font typeface="Gagalin" charset="1" panose="00000500000000000000"/>
      <p:regular r:id="rId14"/>
    </p:embeddedFont>
    <p:embeddedFont>
      <p:font typeface="Cy Grotesk V3 Key Bold" charset="1" panose="00000800000000000000"/>
      <p:regular r:id="rId15"/>
    </p:embeddedFont>
    <p:embeddedFont>
      <p:font typeface="Shrikhand" charset="1" panose="02000000000000000000"/>
      <p:regular r:id="rId16"/>
    </p:embeddedFont>
    <p:embeddedFont>
      <p:font typeface="Raleway Bold" charset="1" panose="00000000000000000000"/>
      <p:regular r:id="rId17"/>
    </p:embeddedFont>
    <p:embeddedFont>
      <p:font typeface="Lora Bold" charset="1" panose="00000800000000000000"/>
      <p:regular r:id="rId18"/>
    </p:embeddedFont>
    <p:embeddedFont>
      <p:font typeface="Brick Sans" charset="1" panose="00000000000000000000"/>
      <p:regular r:id="rId19"/>
    </p:embeddedFont>
    <p:embeddedFont>
      <p:font typeface="Arimo Bold" charset="1" panose="020B0704020202020204"/>
      <p:regular r:id="rId20"/>
    </p:embeddedFont>
    <p:embeddedFont>
      <p:font typeface="Raleway Semi-Bold" charset="1" panose="00000000000000000000"/>
      <p:regular r:id="rId21"/>
    </p:embeddedFont>
    <p:embeddedFont>
      <p:font typeface="Cy Grotesk V3 Key" charset="1" panose="00000500000000000000"/>
      <p:regular r:id="rId22"/>
    </p:embeddedFont>
    <p:embeddedFont>
      <p:font typeface="League Spartan" charset="1" panose="00000800000000000000"/>
      <p:regular r:id="rId23"/>
    </p:embeddedFont>
    <p:embeddedFont>
      <p:font typeface="DM Sans 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https://docs.google.com/document/d/1RJqJUKDlW16CPRYvgSRaiei9yuQyxfcG/edit" TargetMode="External" Type="http://schemas.openxmlformats.org/officeDocument/2006/relationships/hyperlink"/><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13" Target="../media/image21.png" Type="http://schemas.openxmlformats.org/officeDocument/2006/relationships/image"/><Relationship Id="rId14" Target="../media/image22.svg" Type="http://schemas.openxmlformats.org/officeDocument/2006/relationships/image"/><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svg" Type="http://schemas.openxmlformats.org/officeDocument/2006/relationships/image"/><Relationship Id="rId12" Target="../media/image32.png" Type="http://schemas.openxmlformats.org/officeDocument/2006/relationships/image"/><Relationship Id="rId13" Target="../media/image33.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14.pn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13" Target="../media/image50.png" Type="http://schemas.openxmlformats.org/officeDocument/2006/relationships/image"/><Relationship Id="rId14" Target="../media/image51.svg" Type="http://schemas.openxmlformats.org/officeDocument/2006/relationships/image"/><Relationship Id="rId15" Target="../media/image52.png" Type="http://schemas.openxmlformats.org/officeDocument/2006/relationships/image"/><Relationship Id="rId16" Target="../media/image53.svg" Type="http://schemas.openxmlformats.org/officeDocument/2006/relationships/image"/><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 Id="rId4" Target="../media/image56.png" Type="http://schemas.openxmlformats.org/officeDocument/2006/relationships/image"/><Relationship Id="rId5" Target="https://github.com/Ammar-shams" TargetMode="External" Type="http://schemas.openxmlformats.org/officeDocument/2006/relationships/hyperlink"/><Relationship Id="rId6" Target="https://www.linkedin.com/in/ammar-shams-el-din-699a72414?utm_source=share_via&amp;utm_content=profile&amp;utm_medium=member_android" TargetMode="External" Type="http://schemas.openxmlformats.org/officeDocument/2006/relationships/hyperlink"/><Relationship Id="rId7" Target="https://github.com/Ammar-shams" TargetMode="External" Type="http://schemas.openxmlformats.org/officeDocument/2006/relationships/hyperlink"/><Relationship Id="rId8" Target="../media/image57.png" Type="http://schemas.openxmlformats.org/officeDocument/2006/relationships/image"/><Relationship Id="rId9" Target="../media/image5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BFC"/>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53945" y="-912753"/>
            <a:ext cx="13691895" cy="13691895"/>
          </a:xfrm>
          <a:custGeom>
            <a:avLst/>
            <a:gdLst/>
            <a:ahLst/>
            <a:cxnLst/>
            <a:rect r="r" b="b" t="t" l="l"/>
            <a:pathLst>
              <a:path h="13691895" w="13691895">
                <a:moveTo>
                  <a:pt x="0" y="0"/>
                </a:moveTo>
                <a:lnTo>
                  <a:pt x="13691896" y="0"/>
                </a:lnTo>
                <a:lnTo>
                  <a:pt x="13691896" y="13691896"/>
                </a:lnTo>
                <a:lnTo>
                  <a:pt x="0" y="13691896"/>
                </a:lnTo>
                <a:lnTo>
                  <a:pt x="0" y="0"/>
                </a:lnTo>
                <a:close/>
              </a:path>
            </a:pathLst>
          </a:custGeom>
          <a:blipFill>
            <a:blip r:embed="rId2">
              <a:extLst>
                <a:ext uri="{96DAC541-7B7A-43D3-8B79-37D633B846F1}">
                  <asvg:svgBlip xmlns:asvg="http://schemas.microsoft.com/office/drawing/2016/SVG/main" r:embed="rId3"/>
                </a:ext>
              </a:extLst>
            </a:blip>
            <a:stretch>
              <a:fillRect l="-18396" t="0" r="0" b="-18396"/>
            </a:stretch>
          </a:blipFill>
        </p:spPr>
      </p:sp>
      <p:grpSp>
        <p:nvGrpSpPr>
          <p:cNvPr name="Group 3" id="3"/>
          <p:cNvGrpSpPr/>
          <p:nvPr/>
        </p:nvGrpSpPr>
        <p:grpSpPr>
          <a:xfrm rot="0">
            <a:off x="1189152" y="7719855"/>
            <a:ext cx="4781592" cy="849218"/>
            <a:chOff x="0" y="0"/>
            <a:chExt cx="81605830" cy="14493313"/>
          </a:xfrm>
        </p:grpSpPr>
        <p:sp>
          <p:nvSpPr>
            <p:cNvPr name="Freeform 4" id="4"/>
            <p:cNvSpPr/>
            <p:nvPr/>
          </p:nvSpPr>
          <p:spPr>
            <a:xfrm flipH="false" flipV="false" rot="0">
              <a:off x="0" y="0"/>
              <a:ext cx="81605828" cy="14493312"/>
            </a:xfrm>
            <a:custGeom>
              <a:avLst/>
              <a:gdLst/>
              <a:ahLst/>
              <a:cxnLst/>
              <a:rect r="r" b="b" t="t" l="l"/>
              <a:pathLst>
                <a:path h="14493312" w="81605828">
                  <a:moveTo>
                    <a:pt x="16191" y="0"/>
                  </a:moveTo>
                  <a:lnTo>
                    <a:pt x="81589637" y="0"/>
                  </a:lnTo>
                  <a:cubicBezTo>
                    <a:pt x="81593934" y="0"/>
                    <a:pt x="81598052" y="1706"/>
                    <a:pt x="81601084" y="4742"/>
                  </a:cubicBezTo>
                  <a:cubicBezTo>
                    <a:pt x="81604123" y="7779"/>
                    <a:pt x="81605828" y="11897"/>
                    <a:pt x="81605828" y="16191"/>
                  </a:cubicBezTo>
                  <a:lnTo>
                    <a:pt x="81605828" y="14477121"/>
                  </a:lnTo>
                  <a:cubicBezTo>
                    <a:pt x="81605828" y="14481415"/>
                    <a:pt x="81604123" y="14485533"/>
                    <a:pt x="81601084" y="14488570"/>
                  </a:cubicBezTo>
                  <a:cubicBezTo>
                    <a:pt x="81598052" y="14491607"/>
                    <a:pt x="81593934" y="14493312"/>
                    <a:pt x="81589637" y="14493312"/>
                  </a:cubicBezTo>
                  <a:lnTo>
                    <a:pt x="16191" y="14493312"/>
                  </a:lnTo>
                  <a:cubicBezTo>
                    <a:pt x="7249" y="14493312"/>
                    <a:pt x="0" y="14486063"/>
                    <a:pt x="0" y="14477121"/>
                  </a:cubicBezTo>
                  <a:lnTo>
                    <a:pt x="0" y="16191"/>
                  </a:lnTo>
                  <a:cubicBezTo>
                    <a:pt x="0" y="11897"/>
                    <a:pt x="1706" y="7779"/>
                    <a:pt x="4742" y="4742"/>
                  </a:cubicBezTo>
                  <a:cubicBezTo>
                    <a:pt x="7779" y="1706"/>
                    <a:pt x="11897" y="0"/>
                    <a:pt x="16191" y="0"/>
                  </a:cubicBezTo>
                  <a:close/>
                </a:path>
              </a:pathLst>
            </a:custGeom>
            <a:solidFill>
              <a:srgbClr val="346551"/>
            </a:solidFill>
          </p:spPr>
        </p:sp>
        <p:sp>
          <p:nvSpPr>
            <p:cNvPr name="TextBox 5" id="5"/>
            <p:cNvSpPr txBox="true"/>
            <p:nvPr/>
          </p:nvSpPr>
          <p:spPr>
            <a:xfrm>
              <a:off x="0" y="-47625"/>
              <a:ext cx="81605830" cy="14540938"/>
            </a:xfrm>
            <a:prstGeom prst="rect">
              <a:avLst/>
            </a:prstGeom>
          </p:spPr>
          <p:txBody>
            <a:bodyPr anchor="ctr" rtlCol="false" tIns="50800" lIns="50800" bIns="50800" rIns="50800"/>
            <a:lstStyle/>
            <a:p>
              <a:pPr algn="ctr">
                <a:lnSpc>
                  <a:spcPts val="4339"/>
                </a:lnSpc>
                <a:spcBef>
                  <a:spcPct val="0"/>
                </a:spcBef>
              </a:pPr>
              <a:r>
                <a:rPr lang="en-US" b="true" sz="3099" u="sng">
                  <a:solidFill>
                    <a:srgbClr val="FFFFFF"/>
                  </a:solidFill>
                  <a:latin typeface="Open Sans Bold"/>
                  <a:ea typeface="Open Sans Bold"/>
                  <a:cs typeface="Open Sans Bold"/>
                  <a:sym typeface="Open Sans Bold"/>
                  <a:hlinkClick r:id="rId4" tooltip="https://docs.google.com/document/d/1RJqJUKDlW16CPRYvgSRaiei9yuQyxfcG/edit"/>
                </a:rPr>
                <a:t>View CV →</a:t>
              </a:r>
            </a:p>
          </p:txBody>
        </p:sp>
      </p:grpSp>
      <p:sp>
        <p:nvSpPr>
          <p:cNvPr name="TextBox 6" id="6"/>
          <p:cNvSpPr txBox="true"/>
          <p:nvPr/>
        </p:nvSpPr>
        <p:spPr>
          <a:xfrm rot="0">
            <a:off x="1057275" y="1301176"/>
            <a:ext cx="10092048" cy="3573395"/>
          </a:xfrm>
          <a:prstGeom prst="rect">
            <a:avLst/>
          </a:prstGeom>
        </p:spPr>
        <p:txBody>
          <a:bodyPr anchor="t" rtlCol="false" tIns="0" lIns="0" bIns="0" rIns="0">
            <a:spAutoFit/>
          </a:bodyPr>
          <a:lstStyle/>
          <a:p>
            <a:pPr algn="l" marL="0" indent="0" lvl="1">
              <a:lnSpc>
                <a:spcPts val="13535"/>
              </a:lnSpc>
            </a:pPr>
            <a:r>
              <a:rPr lang="en-US" sz="15039" spc="-691">
                <a:solidFill>
                  <a:srgbClr val="000000"/>
                </a:solidFill>
                <a:latin typeface="Fredoka"/>
                <a:ea typeface="Fredoka"/>
                <a:cs typeface="Fredoka"/>
                <a:sym typeface="Fredoka"/>
              </a:rPr>
              <a:t>DATA</a:t>
            </a:r>
            <a:r>
              <a:rPr lang="en-US" sz="15039" spc="-691">
                <a:solidFill>
                  <a:srgbClr val="00694C"/>
                </a:solidFill>
                <a:latin typeface="Fredoka"/>
                <a:ea typeface="Fredoka"/>
                <a:cs typeface="Fredoka"/>
                <a:sym typeface="Fredoka"/>
              </a:rPr>
              <a:t> ANALYSIS</a:t>
            </a:r>
          </a:p>
        </p:txBody>
      </p:sp>
      <p:sp>
        <p:nvSpPr>
          <p:cNvPr name="TextBox 7" id="7"/>
          <p:cNvSpPr txBox="true"/>
          <p:nvPr/>
        </p:nvSpPr>
        <p:spPr>
          <a:xfrm rot="0">
            <a:off x="1189152" y="4913462"/>
            <a:ext cx="6797301" cy="964902"/>
          </a:xfrm>
          <a:prstGeom prst="rect">
            <a:avLst/>
          </a:prstGeom>
        </p:spPr>
        <p:txBody>
          <a:bodyPr anchor="t" rtlCol="false" tIns="0" lIns="0" bIns="0" rIns="0">
            <a:spAutoFit/>
          </a:bodyPr>
          <a:lstStyle/>
          <a:p>
            <a:pPr algn="l" marL="0" indent="0" lvl="1">
              <a:lnSpc>
                <a:spcPts val="7042"/>
              </a:lnSpc>
            </a:pPr>
            <a:r>
              <a:rPr lang="en-US" sz="7825" spc="391">
                <a:solidFill>
                  <a:srgbClr val="FFFFFF"/>
                </a:solidFill>
                <a:latin typeface="Gagalin"/>
                <a:ea typeface="Gagalin"/>
                <a:cs typeface="Gagalin"/>
                <a:sym typeface="Gagalin"/>
              </a:rPr>
              <a:t>Ammar_Shams</a:t>
            </a:r>
          </a:p>
        </p:txBody>
      </p:sp>
      <p:sp>
        <p:nvSpPr>
          <p:cNvPr name="TextBox 8" id="8"/>
          <p:cNvSpPr txBox="true"/>
          <p:nvPr/>
        </p:nvSpPr>
        <p:spPr>
          <a:xfrm rot="0">
            <a:off x="1321707" y="6241778"/>
            <a:ext cx="5751800" cy="869950"/>
          </a:xfrm>
          <a:prstGeom prst="rect">
            <a:avLst/>
          </a:prstGeom>
        </p:spPr>
        <p:txBody>
          <a:bodyPr anchor="t" rtlCol="false" tIns="0" lIns="0" bIns="0" rIns="0">
            <a:spAutoFit/>
          </a:bodyPr>
          <a:lstStyle/>
          <a:p>
            <a:pPr algn="l">
              <a:lnSpc>
                <a:spcPts val="3499"/>
              </a:lnSpc>
              <a:spcBef>
                <a:spcPct val="0"/>
              </a:spcBef>
            </a:pPr>
            <a:r>
              <a:rPr lang="en-US" b="true" sz="2499">
                <a:solidFill>
                  <a:srgbClr val="FFFFFF"/>
                </a:solidFill>
                <a:latin typeface="Cy Grotesk V3 Key Bold"/>
                <a:ea typeface="Cy Grotesk V3 Key Bold"/>
                <a:cs typeface="Cy Grotesk V3 Key Bold"/>
                <a:sym typeface="Cy Grotesk V3 Key Bold"/>
              </a:rPr>
              <a:t>Transforming Data Into Meaningful Business Insights</a:t>
            </a:r>
          </a:p>
        </p:txBody>
      </p:sp>
      <p:grpSp>
        <p:nvGrpSpPr>
          <p:cNvPr name="Group 9" id="9"/>
          <p:cNvGrpSpPr/>
          <p:nvPr/>
        </p:nvGrpSpPr>
        <p:grpSpPr>
          <a:xfrm rot="0">
            <a:off x="13675088" y="306619"/>
            <a:ext cx="4168732" cy="2820500"/>
            <a:chOff x="0" y="0"/>
            <a:chExt cx="1148036" cy="776744"/>
          </a:xfrm>
        </p:grpSpPr>
        <p:sp>
          <p:nvSpPr>
            <p:cNvPr name="Freeform 10" id="10"/>
            <p:cNvSpPr/>
            <p:nvPr/>
          </p:nvSpPr>
          <p:spPr>
            <a:xfrm flipH="false" flipV="false" rot="0">
              <a:off x="0" y="0"/>
              <a:ext cx="1148036" cy="776744"/>
            </a:xfrm>
            <a:custGeom>
              <a:avLst/>
              <a:gdLst/>
              <a:ahLst/>
              <a:cxnLst/>
              <a:rect r="r" b="b" t="t" l="l"/>
              <a:pathLst>
                <a:path h="776744" w="1148036">
                  <a:moveTo>
                    <a:pt x="0" y="0"/>
                  </a:moveTo>
                  <a:lnTo>
                    <a:pt x="1148036" y="0"/>
                  </a:lnTo>
                  <a:lnTo>
                    <a:pt x="1148036" y="776744"/>
                  </a:lnTo>
                  <a:lnTo>
                    <a:pt x="0" y="776744"/>
                  </a:lnTo>
                  <a:close/>
                </a:path>
              </a:pathLst>
            </a:custGeom>
            <a:solidFill>
              <a:srgbClr val="F4F6F8"/>
            </a:solidFill>
          </p:spPr>
        </p:sp>
        <p:sp>
          <p:nvSpPr>
            <p:cNvPr name="TextBox 11" id="11"/>
            <p:cNvSpPr txBox="true"/>
            <p:nvPr/>
          </p:nvSpPr>
          <p:spPr>
            <a:xfrm>
              <a:off x="0" y="-38100"/>
              <a:ext cx="1148036" cy="814844"/>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4689621" y="647036"/>
            <a:ext cx="2139666" cy="2139666"/>
          </a:xfrm>
          <a:custGeom>
            <a:avLst/>
            <a:gdLst/>
            <a:ahLst/>
            <a:cxnLst/>
            <a:rect r="r" b="b" t="t" l="l"/>
            <a:pathLst>
              <a:path h="2139666" w="2139666">
                <a:moveTo>
                  <a:pt x="0" y="0"/>
                </a:moveTo>
                <a:lnTo>
                  <a:pt x="2139666" y="0"/>
                </a:lnTo>
                <a:lnTo>
                  <a:pt x="2139666" y="2139666"/>
                </a:lnTo>
                <a:lnTo>
                  <a:pt x="0" y="21396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4698628" y="3349729"/>
            <a:ext cx="4358950" cy="2949199"/>
            <a:chOff x="0" y="0"/>
            <a:chExt cx="1148036" cy="776744"/>
          </a:xfrm>
        </p:grpSpPr>
        <p:sp>
          <p:nvSpPr>
            <p:cNvPr name="Freeform 14" id="14"/>
            <p:cNvSpPr/>
            <p:nvPr/>
          </p:nvSpPr>
          <p:spPr>
            <a:xfrm flipH="false" flipV="false" rot="0">
              <a:off x="0" y="0"/>
              <a:ext cx="1148036" cy="776744"/>
            </a:xfrm>
            <a:custGeom>
              <a:avLst/>
              <a:gdLst/>
              <a:ahLst/>
              <a:cxnLst/>
              <a:rect r="r" b="b" t="t" l="l"/>
              <a:pathLst>
                <a:path h="776744" w="1148036">
                  <a:moveTo>
                    <a:pt x="0" y="0"/>
                  </a:moveTo>
                  <a:lnTo>
                    <a:pt x="1148036" y="0"/>
                  </a:lnTo>
                  <a:lnTo>
                    <a:pt x="1148036" y="776744"/>
                  </a:lnTo>
                  <a:lnTo>
                    <a:pt x="0" y="776744"/>
                  </a:lnTo>
                  <a:close/>
                </a:path>
              </a:pathLst>
            </a:custGeom>
            <a:solidFill>
              <a:srgbClr val="F4F6F8"/>
            </a:solidFill>
          </p:spPr>
        </p:sp>
        <p:sp>
          <p:nvSpPr>
            <p:cNvPr name="TextBox 15" id="15"/>
            <p:cNvSpPr txBox="true"/>
            <p:nvPr/>
          </p:nvSpPr>
          <p:spPr>
            <a:xfrm>
              <a:off x="0" y="-38100"/>
              <a:ext cx="1148036" cy="814844"/>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0">
            <a:off x="15759454" y="3705680"/>
            <a:ext cx="2237298" cy="2237298"/>
          </a:xfrm>
          <a:custGeom>
            <a:avLst/>
            <a:gdLst/>
            <a:ahLst/>
            <a:cxnLst/>
            <a:rect r="r" b="b" t="t" l="l"/>
            <a:pathLst>
              <a:path h="2237298" w="2237298">
                <a:moveTo>
                  <a:pt x="0" y="0"/>
                </a:moveTo>
                <a:lnTo>
                  <a:pt x="2237298" y="0"/>
                </a:lnTo>
                <a:lnTo>
                  <a:pt x="2237298" y="2237298"/>
                </a:lnTo>
                <a:lnTo>
                  <a:pt x="0" y="22372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7" id="17"/>
          <p:cNvGrpSpPr/>
          <p:nvPr/>
        </p:nvGrpSpPr>
        <p:grpSpPr>
          <a:xfrm rot="0">
            <a:off x="14698628" y="7213328"/>
            <a:ext cx="4358950" cy="2949199"/>
            <a:chOff x="0" y="0"/>
            <a:chExt cx="1148036" cy="776744"/>
          </a:xfrm>
        </p:grpSpPr>
        <p:sp>
          <p:nvSpPr>
            <p:cNvPr name="Freeform 18" id="18"/>
            <p:cNvSpPr/>
            <p:nvPr/>
          </p:nvSpPr>
          <p:spPr>
            <a:xfrm flipH="false" flipV="false" rot="0">
              <a:off x="0" y="0"/>
              <a:ext cx="1148036" cy="776744"/>
            </a:xfrm>
            <a:custGeom>
              <a:avLst/>
              <a:gdLst/>
              <a:ahLst/>
              <a:cxnLst/>
              <a:rect r="r" b="b" t="t" l="l"/>
              <a:pathLst>
                <a:path h="776744" w="1148036">
                  <a:moveTo>
                    <a:pt x="0" y="0"/>
                  </a:moveTo>
                  <a:lnTo>
                    <a:pt x="1148036" y="0"/>
                  </a:lnTo>
                  <a:lnTo>
                    <a:pt x="1148036" y="776744"/>
                  </a:lnTo>
                  <a:lnTo>
                    <a:pt x="0" y="776744"/>
                  </a:lnTo>
                  <a:close/>
                </a:path>
              </a:pathLst>
            </a:custGeom>
            <a:solidFill>
              <a:srgbClr val="F4F6F8"/>
            </a:solidFill>
          </p:spPr>
        </p:sp>
        <p:sp>
          <p:nvSpPr>
            <p:cNvPr name="TextBox 19" id="19"/>
            <p:cNvSpPr txBox="true"/>
            <p:nvPr/>
          </p:nvSpPr>
          <p:spPr>
            <a:xfrm>
              <a:off x="0" y="-38100"/>
              <a:ext cx="1148036" cy="814844"/>
            </a:xfrm>
            <a:prstGeom prst="rect">
              <a:avLst/>
            </a:prstGeom>
          </p:spPr>
          <p:txBody>
            <a:bodyPr anchor="ctr" rtlCol="false" tIns="50800" lIns="50800" bIns="50800" rIns="50800"/>
            <a:lstStyle/>
            <a:p>
              <a:pPr algn="ctr">
                <a:lnSpc>
                  <a:spcPts val="2659"/>
                </a:lnSpc>
                <a:spcBef>
                  <a:spcPct val="0"/>
                </a:spcBef>
              </a:pPr>
            </a:p>
          </p:txBody>
        </p:sp>
      </p:grpSp>
      <p:sp>
        <p:nvSpPr>
          <p:cNvPr name="Freeform 20" id="20"/>
          <p:cNvSpPr/>
          <p:nvPr/>
        </p:nvSpPr>
        <p:spPr>
          <a:xfrm flipH="false" flipV="false" rot="0">
            <a:off x="16062506" y="7420763"/>
            <a:ext cx="1738638" cy="2384666"/>
          </a:xfrm>
          <a:custGeom>
            <a:avLst/>
            <a:gdLst/>
            <a:ahLst/>
            <a:cxnLst/>
            <a:rect r="r" b="b" t="t" l="l"/>
            <a:pathLst>
              <a:path h="2384666" w="1738638">
                <a:moveTo>
                  <a:pt x="0" y="0"/>
                </a:moveTo>
                <a:lnTo>
                  <a:pt x="1738639" y="0"/>
                </a:lnTo>
                <a:lnTo>
                  <a:pt x="1738639" y="2384666"/>
                </a:lnTo>
                <a:lnTo>
                  <a:pt x="0" y="23846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8338987" y="0"/>
            <a:ext cx="7646182" cy="10383830"/>
          </a:xfrm>
          <a:custGeom>
            <a:avLst/>
            <a:gdLst/>
            <a:ahLst/>
            <a:cxnLst/>
            <a:rect r="r" b="b" t="t" l="l"/>
            <a:pathLst>
              <a:path h="10383830" w="7646182">
                <a:moveTo>
                  <a:pt x="0" y="0"/>
                </a:moveTo>
                <a:lnTo>
                  <a:pt x="7646182" y="0"/>
                </a:lnTo>
                <a:lnTo>
                  <a:pt x="7646182" y="10383830"/>
                </a:lnTo>
                <a:lnTo>
                  <a:pt x="0" y="10383830"/>
                </a:lnTo>
                <a:lnTo>
                  <a:pt x="0" y="0"/>
                </a:lnTo>
                <a:close/>
              </a:path>
            </a:pathLst>
          </a:custGeom>
          <a:blipFill>
            <a:blip r:embed="rId11"/>
            <a:stretch>
              <a:fillRect l="-926" t="0" r="-926"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BFC"/>
        </a:solidFill>
      </p:bgPr>
    </p:bg>
    <p:spTree>
      <p:nvGrpSpPr>
        <p:cNvPr id="1" name=""/>
        <p:cNvGrpSpPr/>
        <p:nvPr/>
      </p:nvGrpSpPr>
      <p:grpSpPr>
        <a:xfrm>
          <a:off x="0" y="0"/>
          <a:ext cx="0" cy="0"/>
          <a:chOff x="0" y="0"/>
          <a:chExt cx="0" cy="0"/>
        </a:xfrm>
      </p:grpSpPr>
      <p:sp>
        <p:nvSpPr>
          <p:cNvPr name="Freeform 2" id="2"/>
          <p:cNvSpPr/>
          <p:nvPr/>
        </p:nvSpPr>
        <p:spPr>
          <a:xfrm flipH="false" flipV="false" rot="0">
            <a:off x="12790006" y="306110"/>
            <a:ext cx="5497994" cy="5652144"/>
          </a:xfrm>
          <a:custGeom>
            <a:avLst/>
            <a:gdLst/>
            <a:ahLst/>
            <a:cxnLst/>
            <a:rect r="r" b="b" t="t" l="l"/>
            <a:pathLst>
              <a:path h="5652144" w="5497994">
                <a:moveTo>
                  <a:pt x="0" y="0"/>
                </a:moveTo>
                <a:lnTo>
                  <a:pt x="5497994" y="0"/>
                </a:lnTo>
                <a:lnTo>
                  <a:pt x="5497994" y="5652144"/>
                </a:lnTo>
                <a:lnTo>
                  <a:pt x="0" y="5652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122277" y="6306815"/>
            <a:ext cx="5005682" cy="1910773"/>
            <a:chOff x="0" y="0"/>
            <a:chExt cx="97292268" cy="37136959"/>
          </a:xfrm>
        </p:grpSpPr>
        <p:sp>
          <p:nvSpPr>
            <p:cNvPr name="Freeform 4" id="4"/>
            <p:cNvSpPr/>
            <p:nvPr/>
          </p:nvSpPr>
          <p:spPr>
            <a:xfrm flipH="false" flipV="false" rot="0">
              <a:off x="0" y="0"/>
              <a:ext cx="97292269" cy="37136958"/>
            </a:xfrm>
            <a:custGeom>
              <a:avLst/>
              <a:gdLst/>
              <a:ahLst/>
              <a:cxnLst/>
              <a:rect r="r" b="b" t="t" l="l"/>
              <a:pathLst>
                <a:path h="37136958" w="97292269">
                  <a:moveTo>
                    <a:pt x="97292269" y="61865"/>
                  </a:moveTo>
                  <a:lnTo>
                    <a:pt x="97292269" y="37075092"/>
                  </a:lnTo>
                  <a:cubicBezTo>
                    <a:pt x="97292269" y="37091500"/>
                    <a:pt x="97285752" y="37107236"/>
                    <a:pt x="97274149" y="37118838"/>
                  </a:cubicBezTo>
                  <a:cubicBezTo>
                    <a:pt x="97262547" y="37130441"/>
                    <a:pt x="97246815" y="37136958"/>
                    <a:pt x="97230406" y="37136958"/>
                  </a:cubicBezTo>
                  <a:lnTo>
                    <a:pt x="61865" y="37136958"/>
                  </a:lnTo>
                  <a:cubicBezTo>
                    <a:pt x="45457" y="37136958"/>
                    <a:pt x="29722" y="37130441"/>
                    <a:pt x="18120" y="37118838"/>
                  </a:cubicBezTo>
                  <a:cubicBezTo>
                    <a:pt x="6518" y="37107236"/>
                    <a:pt x="0" y="37091500"/>
                    <a:pt x="0" y="37075092"/>
                  </a:cubicBezTo>
                  <a:lnTo>
                    <a:pt x="0" y="61865"/>
                  </a:lnTo>
                  <a:cubicBezTo>
                    <a:pt x="0" y="45457"/>
                    <a:pt x="6518" y="29722"/>
                    <a:pt x="18120" y="18120"/>
                  </a:cubicBezTo>
                  <a:cubicBezTo>
                    <a:pt x="29722" y="6518"/>
                    <a:pt x="45457" y="0"/>
                    <a:pt x="61865" y="0"/>
                  </a:cubicBezTo>
                  <a:lnTo>
                    <a:pt x="97230406" y="0"/>
                  </a:lnTo>
                  <a:cubicBezTo>
                    <a:pt x="97246815" y="0"/>
                    <a:pt x="97262547" y="6518"/>
                    <a:pt x="97274149" y="18120"/>
                  </a:cubicBezTo>
                  <a:cubicBezTo>
                    <a:pt x="97285752" y="29722"/>
                    <a:pt x="97292269" y="45457"/>
                    <a:pt x="97292269" y="61865"/>
                  </a:cubicBezTo>
                  <a:close/>
                </a:path>
              </a:pathLst>
            </a:custGeom>
            <a:solidFill>
              <a:srgbClr val="F4FBFC"/>
            </a:solidFill>
            <a:ln w="28575" cap="rnd">
              <a:solidFill>
                <a:srgbClr val="00694C"/>
              </a:solidFill>
              <a:prstDash val="solid"/>
              <a:round/>
            </a:ln>
          </p:spPr>
        </p:sp>
        <p:sp>
          <p:nvSpPr>
            <p:cNvPr name="TextBox 5" id="5"/>
            <p:cNvSpPr txBox="true"/>
            <p:nvPr/>
          </p:nvSpPr>
          <p:spPr>
            <a:xfrm>
              <a:off x="0" y="-66675"/>
              <a:ext cx="97292268" cy="37203634"/>
            </a:xfrm>
            <a:prstGeom prst="rect">
              <a:avLst/>
            </a:prstGeom>
          </p:spPr>
          <p:txBody>
            <a:bodyPr anchor="ctr" rtlCol="false" tIns="50800" lIns="50800" bIns="50800" rIns="50800"/>
            <a:lstStyle/>
            <a:p>
              <a:pPr algn="ctr">
                <a:lnSpc>
                  <a:spcPts val="4759"/>
                </a:lnSpc>
                <a:spcBef>
                  <a:spcPct val="0"/>
                </a:spcBef>
              </a:pPr>
            </a:p>
          </p:txBody>
        </p:sp>
      </p:grpSp>
      <p:sp>
        <p:nvSpPr>
          <p:cNvPr name="TextBox 6" id="6"/>
          <p:cNvSpPr txBox="true"/>
          <p:nvPr/>
        </p:nvSpPr>
        <p:spPr>
          <a:xfrm rot="0">
            <a:off x="2257781" y="6409320"/>
            <a:ext cx="3370069" cy="479239"/>
          </a:xfrm>
          <a:prstGeom prst="rect">
            <a:avLst/>
          </a:prstGeom>
        </p:spPr>
        <p:txBody>
          <a:bodyPr anchor="t" rtlCol="false" tIns="0" lIns="0" bIns="0" rIns="0">
            <a:spAutoFit/>
          </a:bodyPr>
          <a:lstStyle/>
          <a:p>
            <a:pPr algn="ctr">
              <a:lnSpc>
                <a:spcPts val="3933"/>
              </a:lnSpc>
              <a:spcBef>
                <a:spcPct val="0"/>
              </a:spcBef>
            </a:pPr>
            <a:r>
              <a:rPr lang="en-US" sz="2809">
                <a:solidFill>
                  <a:srgbClr val="00694C"/>
                </a:solidFill>
                <a:latin typeface="Shrikhand"/>
                <a:ea typeface="Shrikhand"/>
                <a:cs typeface="Shrikhand"/>
                <a:sym typeface="Shrikhand"/>
              </a:rPr>
              <a:t>Data Analysis</a:t>
            </a:r>
          </a:p>
        </p:txBody>
      </p:sp>
      <p:grpSp>
        <p:nvGrpSpPr>
          <p:cNvPr name="Group 7" id="7"/>
          <p:cNvGrpSpPr/>
          <p:nvPr/>
        </p:nvGrpSpPr>
        <p:grpSpPr>
          <a:xfrm rot="0">
            <a:off x="1342668" y="6811872"/>
            <a:ext cx="996834" cy="965827"/>
            <a:chOff x="0" y="0"/>
            <a:chExt cx="838894" cy="812800"/>
          </a:xfrm>
        </p:grpSpPr>
        <p:sp>
          <p:nvSpPr>
            <p:cNvPr name="Freeform 8" id="8"/>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3ECDA6"/>
            </a:solidFill>
          </p:spPr>
        </p:sp>
        <p:sp>
          <p:nvSpPr>
            <p:cNvPr name="TextBox 9" id="9"/>
            <p:cNvSpPr txBox="true"/>
            <p:nvPr/>
          </p:nvSpPr>
          <p:spPr>
            <a:xfrm>
              <a:off x="78646" y="28575"/>
              <a:ext cx="681601" cy="708025"/>
            </a:xfrm>
            <a:prstGeom prst="rect">
              <a:avLst/>
            </a:prstGeom>
          </p:spPr>
          <p:txBody>
            <a:bodyPr anchor="ctr" rtlCol="false" tIns="50800" lIns="50800" bIns="50800" rIns="50800"/>
            <a:lstStyle/>
            <a:p>
              <a:pPr algn="ctr">
                <a:lnSpc>
                  <a:spcPts val="2940"/>
                </a:lnSpc>
              </a:pPr>
            </a:p>
          </p:txBody>
        </p:sp>
      </p:grpSp>
      <p:sp>
        <p:nvSpPr>
          <p:cNvPr name="Freeform 10" id="10"/>
          <p:cNvSpPr/>
          <p:nvPr/>
        </p:nvSpPr>
        <p:spPr>
          <a:xfrm flipH="false" flipV="false" rot="0">
            <a:off x="1512803" y="6986153"/>
            <a:ext cx="637960" cy="637960"/>
          </a:xfrm>
          <a:custGeom>
            <a:avLst/>
            <a:gdLst/>
            <a:ahLst/>
            <a:cxnLst/>
            <a:rect r="r" b="b" t="t" l="l"/>
            <a:pathLst>
              <a:path h="637960" w="637960">
                <a:moveTo>
                  <a:pt x="0" y="0"/>
                </a:moveTo>
                <a:lnTo>
                  <a:pt x="637960" y="0"/>
                </a:lnTo>
                <a:lnTo>
                  <a:pt x="637960" y="637961"/>
                </a:lnTo>
                <a:lnTo>
                  <a:pt x="0" y="6379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6772828" y="6306815"/>
            <a:ext cx="5058406" cy="1930899"/>
            <a:chOff x="0" y="0"/>
            <a:chExt cx="97292268" cy="37136959"/>
          </a:xfrm>
        </p:grpSpPr>
        <p:sp>
          <p:nvSpPr>
            <p:cNvPr name="Freeform 12" id="12"/>
            <p:cNvSpPr/>
            <p:nvPr/>
          </p:nvSpPr>
          <p:spPr>
            <a:xfrm flipH="false" flipV="false" rot="0">
              <a:off x="0" y="0"/>
              <a:ext cx="97292269" cy="37136958"/>
            </a:xfrm>
            <a:custGeom>
              <a:avLst/>
              <a:gdLst/>
              <a:ahLst/>
              <a:cxnLst/>
              <a:rect r="r" b="b" t="t" l="l"/>
              <a:pathLst>
                <a:path h="37136958" w="97292269">
                  <a:moveTo>
                    <a:pt x="97292269" y="61220"/>
                  </a:moveTo>
                  <a:lnTo>
                    <a:pt x="97292269" y="37075737"/>
                  </a:lnTo>
                  <a:cubicBezTo>
                    <a:pt x="97292269" y="37091975"/>
                    <a:pt x="97285820" y="37107546"/>
                    <a:pt x="97274335" y="37119027"/>
                  </a:cubicBezTo>
                  <a:cubicBezTo>
                    <a:pt x="97262857" y="37130509"/>
                    <a:pt x="97247286" y="37136958"/>
                    <a:pt x="97231051" y="37136958"/>
                  </a:cubicBezTo>
                  <a:lnTo>
                    <a:pt x="61220" y="37136958"/>
                  </a:lnTo>
                  <a:cubicBezTo>
                    <a:pt x="27409" y="37136958"/>
                    <a:pt x="0" y="37109549"/>
                    <a:pt x="0" y="37075737"/>
                  </a:cubicBezTo>
                  <a:lnTo>
                    <a:pt x="0" y="61220"/>
                  </a:lnTo>
                  <a:cubicBezTo>
                    <a:pt x="0" y="27409"/>
                    <a:pt x="27409" y="0"/>
                    <a:pt x="61220" y="0"/>
                  </a:cubicBezTo>
                  <a:lnTo>
                    <a:pt x="97231051" y="0"/>
                  </a:lnTo>
                  <a:cubicBezTo>
                    <a:pt x="97264860" y="0"/>
                    <a:pt x="97292269" y="27409"/>
                    <a:pt x="97292269" y="61220"/>
                  </a:cubicBezTo>
                  <a:close/>
                </a:path>
              </a:pathLst>
            </a:custGeom>
            <a:solidFill>
              <a:srgbClr val="F4FBFC"/>
            </a:solidFill>
            <a:ln w="28575" cap="rnd">
              <a:solidFill>
                <a:srgbClr val="00694C"/>
              </a:solidFill>
              <a:prstDash val="solid"/>
              <a:round/>
            </a:ln>
          </p:spPr>
        </p:sp>
        <p:sp>
          <p:nvSpPr>
            <p:cNvPr name="TextBox 13" id="13"/>
            <p:cNvSpPr txBox="true"/>
            <p:nvPr/>
          </p:nvSpPr>
          <p:spPr>
            <a:xfrm>
              <a:off x="0" y="-66675"/>
              <a:ext cx="97292268" cy="37203634"/>
            </a:xfrm>
            <a:prstGeom prst="rect">
              <a:avLst/>
            </a:prstGeom>
          </p:spPr>
          <p:txBody>
            <a:bodyPr anchor="ctr" rtlCol="false" tIns="50800" lIns="50800" bIns="50800" rIns="50800"/>
            <a:lstStyle/>
            <a:p>
              <a:pPr algn="ctr">
                <a:lnSpc>
                  <a:spcPts val="4759"/>
                </a:lnSpc>
                <a:spcBef>
                  <a:spcPct val="0"/>
                </a:spcBef>
              </a:pPr>
            </a:p>
          </p:txBody>
        </p:sp>
      </p:grpSp>
      <p:sp>
        <p:nvSpPr>
          <p:cNvPr name="TextBox 14" id="14"/>
          <p:cNvSpPr txBox="true"/>
          <p:nvPr/>
        </p:nvSpPr>
        <p:spPr>
          <a:xfrm rot="0">
            <a:off x="7684964" y="6412075"/>
            <a:ext cx="4099714" cy="447022"/>
          </a:xfrm>
          <a:prstGeom prst="rect">
            <a:avLst/>
          </a:prstGeom>
        </p:spPr>
        <p:txBody>
          <a:bodyPr anchor="t" rtlCol="false" tIns="0" lIns="0" bIns="0" rIns="0">
            <a:spAutoFit/>
          </a:bodyPr>
          <a:lstStyle/>
          <a:p>
            <a:pPr algn="ctr">
              <a:lnSpc>
                <a:spcPts val="3710"/>
              </a:lnSpc>
              <a:spcBef>
                <a:spcPct val="0"/>
              </a:spcBef>
            </a:pPr>
            <a:r>
              <a:rPr lang="en-US" sz="2650">
                <a:solidFill>
                  <a:srgbClr val="00694C"/>
                </a:solidFill>
                <a:latin typeface="Shrikhand"/>
                <a:ea typeface="Shrikhand"/>
                <a:cs typeface="Shrikhand"/>
                <a:sym typeface="Shrikhand"/>
              </a:rPr>
              <a:t>Data Visualization</a:t>
            </a:r>
          </a:p>
        </p:txBody>
      </p:sp>
      <p:grpSp>
        <p:nvGrpSpPr>
          <p:cNvPr name="Group 15" id="15"/>
          <p:cNvGrpSpPr/>
          <p:nvPr/>
        </p:nvGrpSpPr>
        <p:grpSpPr>
          <a:xfrm rot="0">
            <a:off x="6995541" y="6817192"/>
            <a:ext cx="1007333" cy="976000"/>
            <a:chOff x="0" y="0"/>
            <a:chExt cx="838894" cy="812800"/>
          </a:xfrm>
        </p:grpSpPr>
        <p:sp>
          <p:nvSpPr>
            <p:cNvPr name="Freeform 16" id="16"/>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3ECDA6"/>
            </a:solidFill>
          </p:spPr>
        </p:sp>
        <p:sp>
          <p:nvSpPr>
            <p:cNvPr name="TextBox 17" id="17"/>
            <p:cNvSpPr txBox="true"/>
            <p:nvPr/>
          </p:nvSpPr>
          <p:spPr>
            <a:xfrm>
              <a:off x="78646" y="28575"/>
              <a:ext cx="681601" cy="708025"/>
            </a:xfrm>
            <a:prstGeom prst="rect">
              <a:avLst/>
            </a:prstGeom>
          </p:spPr>
          <p:txBody>
            <a:bodyPr anchor="ctr" rtlCol="false" tIns="50800" lIns="50800" bIns="50800" rIns="50800"/>
            <a:lstStyle/>
            <a:p>
              <a:pPr algn="ctr">
                <a:lnSpc>
                  <a:spcPts val="2940"/>
                </a:lnSpc>
              </a:pPr>
            </a:p>
          </p:txBody>
        </p:sp>
      </p:grpSp>
      <p:sp>
        <p:nvSpPr>
          <p:cNvPr name="Freeform 18" id="18"/>
          <p:cNvSpPr/>
          <p:nvPr/>
        </p:nvSpPr>
        <p:spPr>
          <a:xfrm flipH="false" flipV="false" rot="0">
            <a:off x="7108412" y="6974970"/>
            <a:ext cx="781590" cy="660444"/>
          </a:xfrm>
          <a:custGeom>
            <a:avLst/>
            <a:gdLst/>
            <a:ahLst/>
            <a:cxnLst/>
            <a:rect r="r" b="b" t="t" l="l"/>
            <a:pathLst>
              <a:path h="660444" w="781590">
                <a:moveTo>
                  <a:pt x="0" y="0"/>
                </a:moveTo>
                <a:lnTo>
                  <a:pt x="781590" y="0"/>
                </a:lnTo>
                <a:lnTo>
                  <a:pt x="781590" y="660444"/>
                </a:lnTo>
                <a:lnTo>
                  <a:pt x="0" y="660444"/>
                </a:lnTo>
                <a:lnTo>
                  <a:pt x="0" y="0"/>
                </a:lnTo>
                <a:close/>
              </a:path>
            </a:pathLst>
          </a:custGeom>
          <a:blipFill>
            <a:blip r:embed="rId6"/>
            <a:stretch>
              <a:fillRect l="0" t="0" r="0" b="0"/>
            </a:stretch>
          </a:blipFill>
        </p:spPr>
      </p:sp>
      <p:grpSp>
        <p:nvGrpSpPr>
          <p:cNvPr name="Group 19" id="19"/>
          <p:cNvGrpSpPr/>
          <p:nvPr/>
        </p:nvGrpSpPr>
        <p:grpSpPr>
          <a:xfrm rot="0">
            <a:off x="1050844" y="8707987"/>
            <a:ext cx="16483836" cy="1376017"/>
            <a:chOff x="0" y="0"/>
            <a:chExt cx="4341422" cy="362408"/>
          </a:xfrm>
        </p:grpSpPr>
        <p:sp>
          <p:nvSpPr>
            <p:cNvPr name="Freeform 20" id="20"/>
            <p:cNvSpPr/>
            <p:nvPr/>
          </p:nvSpPr>
          <p:spPr>
            <a:xfrm flipH="false" flipV="false" rot="0">
              <a:off x="0" y="0"/>
              <a:ext cx="4341422" cy="362408"/>
            </a:xfrm>
            <a:custGeom>
              <a:avLst/>
              <a:gdLst/>
              <a:ahLst/>
              <a:cxnLst/>
              <a:rect r="r" b="b" t="t" l="l"/>
              <a:pathLst>
                <a:path h="362408" w="4341422">
                  <a:moveTo>
                    <a:pt x="15499" y="0"/>
                  </a:moveTo>
                  <a:lnTo>
                    <a:pt x="4325923" y="0"/>
                  </a:lnTo>
                  <a:cubicBezTo>
                    <a:pt x="4334483" y="0"/>
                    <a:pt x="4341422" y="6939"/>
                    <a:pt x="4341422" y="15499"/>
                  </a:cubicBezTo>
                  <a:lnTo>
                    <a:pt x="4341422" y="346909"/>
                  </a:lnTo>
                  <a:cubicBezTo>
                    <a:pt x="4341422" y="351019"/>
                    <a:pt x="4339789" y="354961"/>
                    <a:pt x="4336882" y="357868"/>
                  </a:cubicBezTo>
                  <a:cubicBezTo>
                    <a:pt x="4333976" y="360775"/>
                    <a:pt x="4330033" y="362408"/>
                    <a:pt x="4325923" y="362408"/>
                  </a:cubicBezTo>
                  <a:lnTo>
                    <a:pt x="15499" y="362408"/>
                  </a:lnTo>
                  <a:cubicBezTo>
                    <a:pt x="6939" y="362408"/>
                    <a:pt x="0" y="355468"/>
                    <a:pt x="0" y="346909"/>
                  </a:cubicBezTo>
                  <a:lnTo>
                    <a:pt x="0" y="15499"/>
                  </a:lnTo>
                  <a:cubicBezTo>
                    <a:pt x="0" y="11388"/>
                    <a:pt x="1633" y="7446"/>
                    <a:pt x="4540" y="4540"/>
                  </a:cubicBezTo>
                  <a:cubicBezTo>
                    <a:pt x="7446" y="1633"/>
                    <a:pt x="11388" y="0"/>
                    <a:pt x="15499" y="0"/>
                  </a:cubicBezTo>
                  <a:close/>
                </a:path>
              </a:pathLst>
            </a:custGeom>
            <a:solidFill>
              <a:srgbClr val="F4FBFC"/>
            </a:solidFill>
            <a:ln w="38100" cap="rnd">
              <a:solidFill>
                <a:srgbClr val="00694C"/>
              </a:solidFill>
              <a:prstDash val="solid"/>
              <a:round/>
            </a:ln>
          </p:spPr>
        </p:sp>
        <p:sp>
          <p:nvSpPr>
            <p:cNvPr name="TextBox 21" id="21"/>
            <p:cNvSpPr txBox="true"/>
            <p:nvPr/>
          </p:nvSpPr>
          <p:spPr>
            <a:xfrm>
              <a:off x="0" y="-47625"/>
              <a:ext cx="4341422" cy="410033"/>
            </a:xfrm>
            <a:prstGeom prst="rect">
              <a:avLst/>
            </a:prstGeom>
          </p:spPr>
          <p:txBody>
            <a:bodyPr anchor="ctr" rtlCol="false" tIns="50800" lIns="50800" bIns="50800" rIns="50800"/>
            <a:lstStyle/>
            <a:p>
              <a:pPr algn="ctr">
                <a:lnSpc>
                  <a:spcPts val="2940"/>
                </a:lnSpc>
              </a:pPr>
            </a:p>
          </p:txBody>
        </p:sp>
      </p:grpSp>
      <p:sp>
        <p:nvSpPr>
          <p:cNvPr name="Freeform 22" id="22"/>
          <p:cNvSpPr/>
          <p:nvPr/>
        </p:nvSpPr>
        <p:spPr>
          <a:xfrm flipH="false" flipV="false" rot="0">
            <a:off x="6233014" y="9017349"/>
            <a:ext cx="831885" cy="831885"/>
          </a:xfrm>
          <a:custGeom>
            <a:avLst/>
            <a:gdLst/>
            <a:ahLst/>
            <a:cxnLst/>
            <a:rect r="r" b="b" t="t" l="l"/>
            <a:pathLst>
              <a:path h="831885" w="831885">
                <a:moveTo>
                  <a:pt x="0" y="0"/>
                </a:moveTo>
                <a:lnTo>
                  <a:pt x="831885" y="0"/>
                </a:lnTo>
                <a:lnTo>
                  <a:pt x="831885" y="831885"/>
                </a:lnTo>
                <a:lnTo>
                  <a:pt x="0" y="8318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8446104" y="9103142"/>
            <a:ext cx="634612" cy="634612"/>
          </a:xfrm>
          <a:custGeom>
            <a:avLst/>
            <a:gdLst/>
            <a:ahLst/>
            <a:cxnLst/>
            <a:rect r="r" b="b" t="t" l="l"/>
            <a:pathLst>
              <a:path h="634612" w="634612">
                <a:moveTo>
                  <a:pt x="0" y="0"/>
                </a:moveTo>
                <a:lnTo>
                  <a:pt x="634611" y="0"/>
                </a:lnTo>
                <a:lnTo>
                  <a:pt x="634611" y="634612"/>
                </a:lnTo>
                <a:lnTo>
                  <a:pt x="0" y="634612"/>
                </a:lnTo>
                <a:lnTo>
                  <a:pt x="0" y="0"/>
                </a:lnTo>
                <a:close/>
              </a:path>
            </a:pathLst>
          </a:custGeom>
          <a:blipFill>
            <a:blip r:embed="rId9"/>
            <a:stretch>
              <a:fillRect l="0" t="0" r="0" b="0"/>
            </a:stretch>
          </a:blipFill>
        </p:spPr>
      </p:sp>
      <p:sp>
        <p:nvSpPr>
          <p:cNvPr name="Freeform 24" id="24"/>
          <p:cNvSpPr/>
          <p:nvPr/>
        </p:nvSpPr>
        <p:spPr>
          <a:xfrm flipH="false" flipV="false" rot="0">
            <a:off x="12628457" y="9061961"/>
            <a:ext cx="710812" cy="710812"/>
          </a:xfrm>
          <a:custGeom>
            <a:avLst/>
            <a:gdLst/>
            <a:ahLst/>
            <a:cxnLst/>
            <a:rect r="r" b="b" t="t" l="l"/>
            <a:pathLst>
              <a:path h="710812" w="710812">
                <a:moveTo>
                  <a:pt x="0" y="0"/>
                </a:moveTo>
                <a:lnTo>
                  <a:pt x="710812" y="0"/>
                </a:lnTo>
                <a:lnTo>
                  <a:pt x="710812" y="710812"/>
                </a:lnTo>
                <a:lnTo>
                  <a:pt x="0" y="710812"/>
                </a:lnTo>
                <a:lnTo>
                  <a:pt x="0" y="0"/>
                </a:lnTo>
                <a:close/>
              </a:path>
            </a:pathLst>
          </a:custGeom>
          <a:blipFill>
            <a:blip r:embed="rId10"/>
            <a:stretch>
              <a:fillRect l="0" t="0" r="0" b="0"/>
            </a:stretch>
          </a:blipFill>
        </p:spPr>
      </p:sp>
      <p:sp>
        <p:nvSpPr>
          <p:cNvPr name="Freeform 25" id="25"/>
          <p:cNvSpPr/>
          <p:nvPr/>
        </p:nvSpPr>
        <p:spPr>
          <a:xfrm flipH="false" flipV="false" rot="0">
            <a:off x="10326933" y="9068122"/>
            <a:ext cx="704651" cy="704651"/>
          </a:xfrm>
          <a:custGeom>
            <a:avLst/>
            <a:gdLst/>
            <a:ahLst/>
            <a:cxnLst/>
            <a:rect r="r" b="b" t="t" l="l"/>
            <a:pathLst>
              <a:path h="704651" w="704651">
                <a:moveTo>
                  <a:pt x="0" y="0"/>
                </a:moveTo>
                <a:lnTo>
                  <a:pt x="704652" y="0"/>
                </a:lnTo>
                <a:lnTo>
                  <a:pt x="704652" y="704651"/>
                </a:lnTo>
                <a:lnTo>
                  <a:pt x="0" y="704651"/>
                </a:lnTo>
                <a:lnTo>
                  <a:pt x="0" y="0"/>
                </a:lnTo>
                <a:close/>
              </a:path>
            </a:pathLst>
          </a:custGeom>
          <a:blipFill>
            <a:blip r:embed="rId11"/>
            <a:stretch>
              <a:fillRect l="0" t="0" r="0" b="0"/>
            </a:stretch>
          </a:blipFill>
        </p:spPr>
      </p:sp>
      <p:sp>
        <p:nvSpPr>
          <p:cNvPr name="AutoShape 26" id="26"/>
          <p:cNvSpPr/>
          <p:nvPr/>
        </p:nvSpPr>
        <p:spPr>
          <a:xfrm flipV="true">
            <a:off x="4981303" y="9501575"/>
            <a:ext cx="946898" cy="797"/>
          </a:xfrm>
          <a:prstGeom prst="line">
            <a:avLst/>
          </a:prstGeom>
          <a:ln cap="flat" w="38100">
            <a:solidFill>
              <a:srgbClr val="000000"/>
            </a:solidFill>
            <a:prstDash val="sysDash"/>
            <a:headEnd type="none" len="sm" w="sm"/>
            <a:tailEnd type="none" len="sm" w="sm"/>
          </a:ln>
        </p:spPr>
      </p:sp>
      <p:sp>
        <p:nvSpPr>
          <p:cNvPr name="AutoShape 27" id="27"/>
          <p:cNvSpPr/>
          <p:nvPr/>
        </p:nvSpPr>
        <p:spPr>
          <a:xfrm flipV="true">
            <a:off x="8179773" y="9105285"/>
            <a:ext cx="0" cy="585843"/>
          </a:xfrm>
          <a:prstGeom prst="line">
            <a:avLst/>
          </a:prstGeom>
          <a:ln cap="flat" w="38100">
            <a:solidFill>
              <a:srgbClr val="000000"/>
            </a:solidFill>
            <a:prstDash val="solid"/>
            <a:headEnd type="none" len="sm" w="sm"/>
            <a:tailEnd type="none" len="sm" w="sm"/>
          </a:ln>
        </p:spPr>
      </p:sp>
      <p:sp>
        <p:nvSpPr>
          <p:cNvPr name="AutoShape 28" id="28"/>
          <p:cNvSpPr/>
          <p:nvPr/>
        </p:nvSpPr>
        <p:spPr>
          <a:xfrm flipV="true">
            <a:off x="10126908" y="9127526"/>
            <a:ext cx="0" cy="585843"/>
          </a:xfrm>
          <a:prstGeom prst="line">
            <a:avLst/>
          </a:prstGeom>
          <a:ln cap="flat" w="38100">
            <a:solidFill>
              <a:srgbClr val="000000"/>
            </a:solidFill>
            <a:prstDash val="solid"/>
            <a:headEnd type="none" len="sm" w="sm"/>
            <a:tailEnd type="none" len="sm" w="sm"/>
          </a:ln>
        </p:spPr>
      </p:sp>
      <p:sp>
        <p:nvSpPr>
          <p:cNvPr name="AutoShape 29" id="29"/>
          <p:cNvSpPr/>
          <p:nvPr/>
        </p:nvSpPr>
        <p:spPr>
          <a:xfrm flipV="true">
            <a:off x="12352232" y="9075198"/>
            <a:ext cx="0" cy="585843"/>
          </a:xfrm>
          <a:prstGeom prst="line">
            <a:avLst/>
          </a:prstGeom>
          <a:ln cap="flat" w="38100">
            <a:solidFill>
              <a:srgbClr val="000000"/>
            </a:solidFill>
            <a:prstDash val="solid"/>
            <a:headEnd type="none" len="sm" w="sm"/>
            <a:tailEnd type="none" len="sm" w="sm"/>
          </a:ln>
        </p:spPr>
      </p:sp>
      <p:sp>
        <p:nvSpPr>
          <p:cNvPr name="AutoShape 30" id="30"/>
          <p:cNvSpPr/>
          <p:nvPr/>
        </p:nvSpPr>
        <p:spPr>
          <a:xfrm flipV="true">
            <a:off x="14759100" y="9124446"/>
            <a:ext cx="0" cy="585843"/>
          </a:xfrm>
          <a:prstGeom prst="line">
            <a:avLst/>
          </a:prstGeom>
          <a:ln cap="flat" w="38100">
            <a:solidFill>
              <a:srgbClr val="000000"/>
            </a:solidFill>
            <a:prstDash val="solid"/>
            <a:headEnd type="none" len="sm" w="sm"/>
            <a:tailEnd type="none" len="sm" w="sm"/>
          </a:ln>
        </p:spPr>
      </p:sp>
      <p:sp>
        <p:nvSpPr>
          <p:cNvPr name="Freeform 31" id="31"/>
          <p:cNvSpPr/>
          <p:nvPr/>
        </p:nvSpPr>
        <p:spPr>
          <a:xfrm flipH="false" flipV="false" rot="0">
            <a:off x="15082950" y="9027359"/>
            <a:ext cx="786177" cy="786177"/>
          </a:xfrm>
          <a:custGeom>
            <a:avLst/>
            <a:gdLst/>
            <a:ahLst/>
            <a:cxnLst/>
            <a:rect r="r" b="b" t="t" l="l"/>
            <a:pathLst>
              <a:path h="786177" w="786177">
                <a:moveTo>
                  <a:pt x="0" y="0"/>
                </a:moveTo>
                <a:lnTo>
                  <a:pt x="786177" y="0"/>
                </a:lnTo>
                <a:lnTo>
                  <a:pt x="786177" y="786177"/>
                </a:lnTo>
                <a:lnTo>
                  <a:pt x="0" y="786177"/>
                </a:lnTo>
                <a:lnTo>
                  <a:pt x="0" y="0"/>
                </a:lnTo>
                <a:close/>
              </a:path>
            </a:pathLst>
          </a:custGeom>
          <a:blipFill>
            <a:blip r:embed="rId12"/>
            <a:stretch>
              <a:fillRect l="0" t="0" r="0" b="0"/>
            </a:stretch>
          </a:blipFill>
        </p:spPr>
      </p:sp>
      <p:grpSp>
        <p:nvGrpSpPr>
          <p:cNvPr name="Group 32" id="32"/>
          <p:cNvGrpSpPr/>
          <p:nvPr/>
        </p:nvGrpSpPr>
        <p:grpSpPr>
          <a:xfrm rot="0">
            <a:off x="12519473" y="6306815"/>
            <a:ext cx="5005682" cy="1910773"/>
            <a:chOff x="0" y="0"/>
            <a:chExt cx="97292268" cy="37136959"/>
          </a:xfrm>
        </p:grpSpPr>
        <p:sp>
          <p:nvSpPr>
            <p:cNvPr name="Freeform 33" id="33"/>
            <p:cNvSpPr/>
            <p:nvPr/>
          </p:nvSpPr>
          <p:spPr>
            <a:xfrm flipH="false" flipV="false" rot="0">
              <a:off x="0" y="0"/>
              <a:ext cx="97292269" cy="37136958"/>
            </a:xfrm>
            <a:custGeom>
              <a:avLst/>
              <a:gdLst/>
              <a:ahLst/>
              <a:cxnLst/>
              <a:rect r="r" b="b" t="t" l="l"/>
              <a:pathLst>
                <a:path h="37136958" w="97292269">
                  <a:moveTo>
                    <a:pt x="97292269" y="61865"/>
                  </a:moveTo>
                  <a:lnTo>
                    <a:pt x="97292269" y="37075092"/>
                  </a:lnTo>
                  <a:cubicBezTo>
                    <a:pt x="97292269" y="37091500"/>
                    <a:pt x="97285752" y="37107236"/>
                    <a:pt x="97274149" y="37118838"/>
                  </a:cubicBezTo>
                  <a:cubicBezTo>
                    <a:pt x="97262547" y="37130441"/>
                    <a:pt x="97246815" y="37136958"/>
                    <a:pt x="97230406" y="37136958"/>
                  </a:cubicBezTo>
                  <a:lnTo>
                    <a:pt x="61865" y="37136958"/>
                  </a:lnTo>
                  <a:cubicBezTo>
                    <a:pt x="45457" y="37136958"/>
                    <a:pt x="29722" y="37130441"/>
                    <a:pt x="18120" y="37118838"/>
                  </a:cubicBezTo>
                  <a:cubicBezTo>
                    <a:pt x="6518" y="37107236"/>
                    <a:pt x="0" y="37091500"/>
                    <a:pt x="0" y="37075092"/>
                  </a:cubicBezTo>
                  <a:lnTo>
                    <a:pt x="0" y="61865"/>
                  </a:lnTo>
                  <a:cubicBezTo>
                    <a:pt x="0" y="45457"/>
                    <a:pt x="6518" y="29722"/>
                    <a:pt x="18120" y="18120"/>
                  </a:cubicBezTo>
                  <a:cubicBezTo>
                    <a:pt x="29722" y="6518"/>
                    <a:pt x="45457" y="0"/>
                    <a:pt x="61865" y="0"/>
                  </a:cubicBezTo>
                  <a:lnTo>
                    <a:pt x="97230406" y="0"/>
                  </a:lnTo>
                  <a:cubicBezTo>
                    <a:pt x="97246815" y="0"/>
                    <a:pt x="97262547" y="6518"/>
                    <a:pt x="97274149" y="18120"/>
                  </a:cubicBezTo>
                  <a:cubicBezTo>
                    <a:pt x="97285752" y="29722"/>
                    <a:pt x="97292269" y="45457"/>
                    <a:pt x="97292269" y="61865"/>
                  </a:cubicBezTo>
                  <a:close/>
                </a:path>
              </a:pathLst>
            </a:custGeom>
            <a:solidFill>
              <a:srgbClr val="F4FBFC"/>
            </a:solidFill>
            <a:ln w="28575" cap="rnd">
              <a:solidFill>
                <a:srgbClr val="00694C"/>
              </a:solidFill>
              <a:prstDash val="solid"/>
              <a:round/>
            </a:ln>
          </p:spPr>
        </p:sp>
        <p:sp>
          <p:nvSpPr>
            <p:cNvPr name="TextBox 34" id="34"/>
            <p:cNvSpPr txBox="true"/>
            <p:nvPr/>
          </p:nvSpPr>
          <p:spPr>
            <a:xfrm>
              <a:off x="0" y="-66675"/>
              <a:ext cx="97292268" cy="37203634"/>
            </a:xfrm>
            <a:prstGeom prst="rect">
              <a:avLst/>
            </a:prstGeom>
          </p:spPr>
          <p:txBody>
            <a:bodyPr anchor="ctr" rtlCol="false" tIns="50800" lIns="50800" bIns="50800" rIns="50800"/>
            <a:lstStyle/>
            <a:p>
              <a:pPr algn="ctr">
                <a:lnSpc>
                  <a:spcPts val="4759"/>
                </a:lnSpc>
                <a:spcBef>
                  <a:spcPct val="0"/>
                </a:spcBef>
              </a:pPr>
            </a:p>
          </p:txBody>
        </p:sp>
      </p:grpSp>
      <p:grpSp>
        <p:nvGrpSpPr>
          <p:cNvPr name="Group 35" id="35"/>
          <p:cNvGrpSpPr/>
          <p:nvPr/>
        </p:nvGrpSpPr>
        <p:grpSpPr>
          <a:xfrm rot="0">
            <a:off x="12739864" y="6822278"/>
            <a:ext cx="996834" cy="965827"/>
            <a:chOff x="0" y="0"/>
            <a:chExt cx="838894" cy="812800"/>
          </a:xfrm>
        </p:grpSpPr>
        <p:sp>
          <p:nvSpPr>
            <p:cNvPr name="Freeform 36" id="36"/>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3ECDA6"/>
            </a:solidFill>
          </p:spPr>
        </p:sp>
        <p:sp>
          <p:nvSpPr>
            <p:cNvPr name="TextBox 37" id="37"/>
            <p:cNvSpPr txBox="true"/>
            <p:nvPr/>
          </p:nvSpPr>
          <p:spPr>
            <a:xfrm>
              <a:off x="78646" y="28575"/>
              <a:ext cx="681601" cy="708025"/>
            </a:xfrm>
            <a:prstGeom prst="rect">
              <a:avLst/>
            </a:prstGeom>
          </p:spPr>
          <p:txBody>
            <a:bodyPr anchor="ctr" rtlCol="false" tIns="50800" lIns="50800" bIns="50800" rIns="50800"/>
            <a:lstStyle/>
            <a:p>
              <a:pPr algn="ctr">
                <a:lnSpc>
                  <a:spcPts val="2940"/>
                </a:lnSpc>
              </a:pPr>
            </a:p>
          </p:txBody>
        </p:sp>
      </p:grpSp>
      <p:sp>
        <p:nvSpPr>
          <p:cNvPr name="Freeform 38" id="38"/>
          <p:cNvSpPr/>
          <p:nvPr/>
        </p:nvSpPr>
        <p:spPr>
          <a:xfrm flipH="false" flipV="false" rot="0">
            <a:off x="12846247" y="6913832"/>
            <a:ext cx="784068" cy="838576"/>
          </a:xfrm>
          <a:custGeom>
            <a:avLst/>
            <a:gdLst/>
            <a:ahLst/>
            <a:cxnLst/>
            <a:rect r="r" b="b" t="t" l="l"/>
            <a:pathLst>
              <a:path h="838576" w="784068">
                <a:moveTo>
                  <a:pt x="0" y="0"/>
                </a:moveTo>
                <a:lnTo>
                  <a:pt x="784068" y="0"/>
                </a:lnTo>
                <a:lnTo>
                  <a:pt x="784068" y="838576"/>
                </a:lnTo>
                <a:lnTo>
                  <a:pt x="0" y="83857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9" id="39"/>
          <p:cNvSpPr txBox="true"/>
          <p:nvPr/>
        </p:nvSpPr>
        <p:spPr>
          <a:xfrm rot="0">
            <a:off x="1148489" y="2010962"/>
            <a:ext cx="7924800" cy="1239818"/>
          </a:xfrm>
          <a:prstGeom prst="rect">
            <a:avLst/>
          </a:prstGeom>
        </p:spPr>
        <p:txBody>
          <a:bodyPr anchor="t" rtlCol="false" tIns="0" lIns="0" bIns="0" rIns="0">
            <a:spAutoFit/>
          </a:bodyPr>
          <a:lstStyle/>
          <a:p>
            <a:pPr algn="l" marL="0" indent="0" lvl="1">
              <a:lnSpc>
                <a:spcPts val="9037"/>
              </a:lnSpc>
            </a:pPr>
            <a:r>
              <a:rPr lang="en-US" sz="10041" spc="-461">
                <a:solidFill>
                  <a:srgbClr val="000000"/>
                </a:solidFill>
                <a:latin typeface="Fredoka"/>
                <a:ea typeface="Fredoka"/>
                <a:cs typeface="Fredoka"/>
                <a:sym typeface="Fredoka"/>
              </a:rPr>
              <a:t>Aboue</a:t>
            </a:r>
            <a:r>
              <a:rPr lang="en-US" sz="10041" spc="-461">
                <a:solidFill>
                  <a:srgbClr val="00694C"/>
                </a:solidFill>
                <a:latin typeface="Fredoka"/>
                <a:ea typeface="Fredoka"/>
                <a:cs typeface="Fredoka"/>
                <a:sym typeface="Fredoka"/>
              </a:rPr>
              <a:t> Me</a:t>
            </a:r>
          </a:p>
        </p:txBody>
      </p:sp>
      <p:sp>
        <p:nvSpPr>
          <p:cNvPr name="TextBox 40" id="40"/>
          <p:cNvSpPr txBox="true"/>
          <p:nvPr/>
        </p:nvSpPr>
        <p:spPr>
          <a:xfrm rot="0">
            <a:off x="1096769" y="3449543"/>
            <a:ext cx="8186685" cy="2390547"/>
          </a:xfrm>
          <a:prstGeom prst="rect">
            <a:avLst/>
          </a:prstGeom>
        </p:spPr>
        <p:txBody>
          <a:bodyPr anchor="t" rtlCol="false" tIns="0" lIns="0" bIns="0" rIns="0">
            <a:spAutoFit/>
          </a:bodyPr>
          <a:lstStyle/>
          <a:p>
            <a:pPr algn="l">
              <a:lnSpc>
                <a:spcPts val="3162"/>
              </a:lnSpc>
              <a:spcBef>
                <a:spcPct val="0"/>
              </a:spcBef>
            </a:pPr>
            <a:r>
              <a:rPr lang="en-US" b="true" sz="2258">
                <a:solidFill>
                  <a:srgbClr val="00694C"/>
                </a:solidFill>
                <a:latin typeface="Raleway Bold"/>
                <a:ea typeface="Raleway Bold"/>
                <a:cs typeface="Raleway Bold"/>
                <a:sym typeface="Raleway Bold"/>
              </a:rPr>
              <a:t>Hi! I’m Ammar Shams  I’m a Business Inf</a:t>
            </a:r>
            <a:r>
              <a:rPr lang="en-US" b="true" sz="2258">
                <a:solidFill>
                  <a:srgbClr val="00694C"/>
                </a:solidFill>
                <a:latin typeface="Raleway Bold"/>
                <a:ea typeface="Raleway Bold"/>
                <a:cs typeface="Raleway Bold"/>
                <a:sym typeface="Raleway Bold"/>
              </a:rPr>
              <a:t>ormation Systems (BIS) student and a Data Analytics trainee at the Digital Egypt Pioneers Initiative (DEPI).</a:t>
            </a:r>
          </a:p>
          <a:p>
            <a:pPr algn="l">
              <a:lnSpc>
                <a:spcPts val="3162"/>
              </a:lnSpc>
              <a:spcBef>
                <a:spcPct val="0"/>
              </a:spcBef>
            </a:pPr>
          </a:p>
          <a:p>
            <a:pPr algn="l">
              <a:lnSpc>
                <a:spcPts val="3162"/>
              </a:lnSpc>
              <a:spcBef>
                <a:spcPct val="0"/>
              </a:spcBef>
            </a:pPr>
            <a:r>
              <a:rPr lang="en-US" b="true" sz="2258">
                <a:solidFill>
                  <a:srgbClr val="00694C"/>
                </a:solidFill>
                <a:latin typeface="Raleway Bold"/>
                <a:ea typeface="Raleway Bold"/>
                <a:cs typeface="Raleway Bold"/>
                <a:sym typeface="Raleway Bold"/>
              </a:rPr>
              <a:t>I combine business intelligence with technical data skills to transform raw data into clear, actionable business insights.</a:t>
            </a:r>
          </a:p>
        </p:txBody>
      </p:sp>
      <p:sp>
        <p:nvSpPr>
          <p:cNvPr name="TextBox 41" id="41"/>
          <p:cNvSpPr txBox="true"/>
          <p:nvPr/>
        </p:nvSpPr>
        <p:spPr>
          <a:xfrm rot="0">
            <a:off x="2431729" y="7047134"/>
            <a:ext cx="3196121" cy="864429"/>
          </a:xfrm>
          <a:prstGeom prst="rect">
            <a:avLst/>
          </a:prstGeom>
        </p:spPr>
        <p:txBody>
          <a:bodyPr anchor="t" rtlCol="false" tIns="0" lIns="0" bIns="0" rIns="0">
            <a:spAutoFit/>
          </a:bodyPr>
          <a:lstStyle/>
          <a:p>
            <a:pPr algn="ctr">
              <a:lnSpc>
                <a:spcPts val="2333"/>
              </a:lnSpc>
              <a:spcBef>
                <a:spcPct val="0"/>
              </a:spcBef>
            </a:pPr>
            <a:r>
              <a:rPr lang="en-US" b="true" sz="1666">
                <a:solidFill>
                  <a:srgbClr val="00694C"/>
                </a:solidFill>
                <a:latin typeface="Lora Bold"/>
                <a:ea typeface="Lora Bold"/>
                <a:cs typeface="Lora Bold"/>
                <a:sym typeface="Lora Bold"/>
              </a:rPr>
              <a:t>Explor, clean, and analysis datasets to discover meanuingful patterns.</a:t>
            </a:r>
          </a:p>
        </p:txBody>
      </p:sp>
      <p:sp>
        <p:nvSpPr>
          <p:cNvPr name="TextBox 42" id="42"/>
          <p:cNvSpPr txBox="true"/>
          <p:nvPr/>
        </p:nvSpPr>
        <p:spPr>
          <a:xfrm rot="0">
            <a:off x="8096072" y="7055233"/>
            <a:ext cx="3229785" cy="873233"/>
          </a:xfrm>
          <a:prstGeom prst="rect">
            <a:avLst/>
          </a:prstGeom>
        </p:spPr>
        <p:txBody>
          <a:bodyPr anchor="t" rtlCol="false" tIns="0" lIns="0" bIns="0" rIns="0">
            <a:spAutoFit/>
          </a:bodyPr>
          <a:lstStyle/>
          <a:p>
            <a:pPr algn="ctr">
              <a:lnSpc>
                <a:spcPts val="2358"/>
              </a:lnSpc>
              <a:spcBef>
                <a:spcPct val="0"/>
              </a:spcBef>
            </a:pPr>
            <a:r>
              <a:rPr lang="en-US" b="true" sz="1684">
                <a:solidFill>
                  <a:srgbClr val="00694C"/>
                </a:solidFill>
                <a:latin typeface="Lora Bold"/>
                <a:ea typeface="Lora Bold"/>
                <a:cs typeface="Lora Bold"/>
                <a:sym typeface="Lora Bold"/>
              </a:rPr>
              <a:t>Create clear and interactive dashboards that make insights easy to understand.</a:t>
            </a:r>
          </a:p>
        </p:txBody>
      </p:sp>
      <p:sp>
        <p:nvSpPr>
          <p:cNvPr name="TextBox 43" id="43"/>
          <p:cNvSpPr txBox="true"/>
          <p:nvPr/>
        </p:nvSpPr>
        <p:spPr>
          <a:xfrm rot="0">
            <a:off x="1231768" y="9201150"/>
            <a:ext cx="3517344" cy="431800"/>
          </a:xfrm>
          <a:prstGeom prst="rect">
            <a:avLst/>
          </a:prstGeom>
        </p:spPr>
        <p:txBody>
          <a:bodyPr anchor="t" rtlCol="false" tIns="0" lIns="0" bIns="0" rIns="0">
            <a:spAutoFit/>
          </a:bodyPr>
          <a:lstStyle/>
          <a:p>
            <a:pPr algn="ctr">
              <a:lnSpc>
                <a:spcPts val="3499"/>
              </a:lnSpc>
              <a:spcBef>
                <a:spcPct val="0"/>
              </a:spcBef>
            </a:pPr>
            <a:r>
              <a:rPr lang="en-US" b="true" sz="2499">
                <a:solidFill>
                  <a:srgbClr val="00694C"/>
                </a:solidFill>
                <a:latin typeface="Cy Grotesk V3 Key Bold"/>
                <a:ea typeface="Cy Grotesk V3 Key Bold"/>
                <a:cs typeface="Cy Grotesk V3 Key Bold"/>
                <a:sym typeface="Cy Grotesk V3 Key Bold"/>
              </a:rPr>
              <a:t>Tools &amp; Technologies</a:t>
            </a:r>
          </a:p>
        </p:txBody>
      </p:sp>
      <p:sp>
        <p:nvSpPr>
          <p:cNvPr name="TextBox 44" id="44"/>
          <p:cNvSpPr txBox="true"/>
          <p:nvPr/>
        </p:nvSpPr>
        <p:spPr>
          <a:xfrm rot="0">
            <a:off x="7207774" y="9257665"/>
            <a:ext cx="81007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Excel</a:t>
            </a:r>
          </a:p>
        </p:txBody>
      </p:sp>
      <p:sp>
        <p:nvSpPr>
          <p:cNvPr name="TextBox 45" id="45"/>
          <p:cNvSpPr txBox="true"/>
          <p:nvPr/>
        </p:nvSpPr>
        <p:spPr>
          <a:xfrm rot="0">
            <a:off x="9204540" y="9236124"/>
            <a:ext cx="722343"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SQL</a:t>
            </a:r>
          </a:p>
        </p:txBody>
      </p:sp>
      <p:sp>
        <p:nvSpPr>
          <p:cNvPr name="TextBox 46" id="46"/>
          <p:cNvSpPr txBox="true"/>
          <p:nvPr/>
        </p:nvSpPr>
        <p:spPr>
          <a:xfrm rot="0">
            <a:off x="11079210" y="9057660"/>
            <a:ext cx="1111098" cy="737235"/>
          </a:xfrm>
          <a:prstGeom prst="rect">
            <a:avLst/>
          </a:prstGeom>
        </p:spPr>
        <p:txBody>
          <a:bodyPr anchor="t" rtlCol="false" tIns="0" lIns="0" bIns="0" rIns="0">
            <a:spAutoFit/>
          </a:bodyPr>
          <a:lstStyle/>
          <a:p>
            <a:pPr algn="ctr">
              <a:lnSpc>
                <a:spcPts val="2940"/>
              </a:lnSpc>
            </a:pPr>
            <a:r>
              <a:rPr lang="en-US" sz="2100" b="true">
                <a:solidFill>
                  <a:srgbClr val="00694C"/>
                </a:solidFill>
                <a:latin typeface="Cy Grotesk V3 Key Bold"/>
                <a:ea typeface="Cy Grotesk V3 Key Bold"/>
                <a:cs typeface="Cy Grotesk V3 Key Bold"/>
                <a:sym typeface="Cy Grotesk V3 Key Bold"/>
              </a:rPr>
              <a:t>Power</a:t>
            </a:r>
          </a:p>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 bI</a:t>
            </a:r>
          </a:p>
        </p:txBody>
      </p:sp>
      <p:sp>
        <p:nvSpPr>
          <p:cNvPr name="TextBox 47" id="47"/>
          <p:cNvSpPr txBox="true"/>
          <p:nvPr/>
        </p:nvSpPr>
        <p:spPr>
          <a:xfrm rot="0">
            <a:off x="13324692" y="9210675"/>
            <a:ext cx="1367733"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Python</a:t>
            </a:r>
          </a:p>
        </p:txBody>
      </p:sp>
      <p:sp>
        <p:nvSpPr>
          <p:cNvPr name="TextBox 48" id="48"/>
          <p:cNvSpPr txBox="true"/>
          <p:nvPr/>
        </p:nvSpPr>
        <p:spPr>
          <a:xfrm rot="0">
            <a:off x="15900028" y="9210675"/>
            <a:ext cx="1367733"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Tableau</a:t>
            </a:r>
          </a:p>
        </p:txBody>
      </p:sp>
      <p:sp>
        <p:nvSpPr>
          <p:cNvPr name="TextBox 49" id="49"/>
          <p:cNvSpPr txBox="true"/>
          <p:nvPr/>
        </p:nvSpPr>
        <p:spPr>
          <a:xfrm rot="0">
            <a:off x="13238281" y="6418331"/>
            <a:ext cx="4056983" cy="440765"/>
          </a:xfrm>
          <a:prstGeom prst="rect">
            <a:avLst/>
          </a:prstGeom>
        </p:spPr>
        <p:txBody>
          <a:bodyPr anchor="t" rtlCol="false" tIns="0" lIns="0" bIns="0" rIns="0">
            <a:spAutoFit/>
          </a:bodyPr>
          <a:lstStyle/>
          <a:p>
            <a:pPr algn="ctr">
              <a:lnSpc>
                <a:spcPts val="3530"/>
              </a:lnSpc>
              <a:spcBef>
                <a:spcPct val="0"/>
              </a:spcBef>
            </a:pPr>
            <a:r>
              <a:rPr lang="en-US" sz="2522">
                <a:solidFill>
                  <a:srgbClr val="00694C"/>
                </a:solidFill>
                <a:latin typeface="Shrikhand"/>
                <a:ea typeface="Shrikhand"/>
                <a:cs typeface="Shrikhand"/>
                <a:sym typeface="Shrikhand"/>
              </a:rPr>
              <a:t>Business Intelligence</a:t>
            </a:r>
          </a:p>
        </p:txBody>
      </p:sp>
      <p:sp>
        <p:nvSpPr>
          <p:cNvPr name="TextBox 50" id="50"/>
          <p:cNvSpPr txBox="true"/>
          <p:nvPr/>
        </p:nvSpPr>
        <p:spPr>
          <a:xfrm rot="0">
            <a:off x="13828925" y="7047134"/>
            <a:ext cx="3196121" cy="864429"/>
          </a:xfrm>
          <a:prstGeom prst="rect">
            <a:avLst/>
          </a:prstGeom>
        </p:spPr>
        <p:txBody>
          <a:bodyPr anchor="t" rtlCol="false" tIns="0" lIns="0" bIns="0" rIns="0">
            <a:spAutoFit/>
          </a:bodyPr>
          <a:lstStyle/>
          <a:p>
            <a:pPr algn="ctr">
              <a:lnSpc>
                <a:spcPts val="2333"/>
              </a:lnSpc>
              <a:spcBef>
                <a:spcPct val="0"/>
              </a:spcBef>
            </a:pPr>
            <a:r>
              <a:rPr lang="en-US" b="true" sz="1666">
                <a:solidFill>
                  <a:srgbClr val="00694C"/>
                </a:solidFill>
                <a:latin typeface="Lora Bold"/>
                <a:ea typeface="Lora Bold"/>
                <a:cs typeface="Lora Bold"/>
                <a:sym typeface="Lora Bold"/>
              </a:rPr>
              <a:t>Translate data into actionable insights that can support smarter decisions.</a:t>
            </a:r>
          </a:p>
        </p:txBody>
      </p:sp>
      <p:grpSp>
        <p:nvGrpSpPr>
          <p:cNvPr name="Group 51" id="51"/>
          <p:cNvGrpSpPr/>
          <p:nvPr/>
        </p:nvGrpSpPr>
        <p:grpSpPr>
          <a:xfrm rot="0">
            <a:off x="2668933" y="88448"/>
            <a:ext cx="1526299" cy="1478823"/>
            <a:chOff x="0" y="0"/>
            <a:chExt cx="838894" cy="812800"/>
          </a:xfrm>
        </p:grpSpPr>
        <p:sp>
          <p:nvSpPr>
            <p:cNvPr name="Freeform 52" id="52"/>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D4F6EC"/>
            </a:solidFill>
          </p:spPr>
        </p:sp>
        <p:sp>
          <p:nvSpPr>
            <p:cNvPr name="TextBox 53" id="53"/>
            <p:cNvSpPr txBox="true"/>
            <p:nvPr/>
          </p:nvSpPr>
          <p:spPr>
            <a:xfrm>
              <a:off x="78646" y="28575"/>
              <a:ext cx="681601" cy="708025"/>
            </a:xfrm>
            <a:prstGeom prst="rect">
              <a:avLst/>
            </a:prstGeom>
          </p:spPr>
          <p:txBody>
            <a:bodyPr anchor="ctr" rtlCol="false" tIns="50800" lIns="50800" bIns="50800" rIns="50800"/>
            <a:lstStyle/>
            <a:p>
              <a:pPr algn="ctr">
                <a:lnSpc>
                  <a:spcPts val="2940"/>
                </a:lnSpc>
              </a:pPr>
            </a:p>
          </p:txBody>
        </p:sp>
      </p:grpSp>
      <p:sp>
        <p:nvSpPr>
          <p:cNvPr name="TextBox 54" id="54"/>
          <p:cNvSpPr txBox="true"/>
          <p:nvPr/>
        </p:nvSpPr>
        <p:spPr>
          <a:xfrm rot="0">
            <a:off x="11709838" y="621167"/>
            <a:ext cx="197472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Contact</a:t>
            </a:r>
          </a:p>
        </p:txBody>
      </p:sp>
      <p:sp>
        <p:nvSpPr>
          <p:cNvPr name="TextBox 55" id="55"/>
          <p:cNvSpPr txBox="true"/>
          <p:nvPr/>
        </p:nvSpPr>
        <p:spPr>
          <a:xfrm rot="0">
            <a:off x="9025805" y="613059"/>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Feedback</a:t>
            </a:r>
          </a:p>
        </p:txBody>
      </p:sp>
      <p:sp>
        <p:nvSpPr>
          <p:cNvPr name="TextBox 56" id="56"/>
          <p:cNvSpPr txBox="true"/>
          <p:nvPr/>
        </p:nvSpPr>
        <p:spPr>
          <a:xfrm rot="0">
            <a:off x="2254455" y="593200"/>
            <a:ext cx="235525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About </a:t>
            </a:r>
          </a:p>
        </p:txBody>
      </p:sp>
      <p:sp>
        <p:nvSpPr>
          <p:cNvPr name="TextBox 57" id="57"/>
          <p:cNvSpPr txBox="true"/>
          <p:nvPr/>
        </p:nvSpPr>
        <p:spPr>
          <a:xfrm rot="0">
            <a:off x="6969891" y="593200"/>
            <a:ext cx="205591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Projects </a:t>
            </a:r>
          </a:p>
        </p:txBody>
      </p:sp>
      <p:sp>
        <p:nvSpPr>
          <p:cNvPr name="TextBox 58" id="58"/>
          <p:cNvSpPr txBox="true"/>
          <p:nvPr/>
        </p:nvSpPr>
        <p:spPr>
          <a:xfrm rot="0">
            <a:off x="4609709" y="593200"/>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Education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BFC"/>
        </a:solidFill>
      </p:bgPr>
    </p:bg>
    <p:spTree>
      <p:nvGrpSpPr>
        <p:cNvPr id="1" name=""/>
        <p:cNvGrpSpPr/>
        <p:nvPr/>
      </p:nvGrpSpPr>
      <p:grpSpPr>
        <a:xfrm>
          <a:off x="0" y="0"/>
          <a:ext cx="0" cy="0"/>
          <a:chOff x="0" y="0"/>
          <a:chExt cx="0" cy="0"/>
        </a:xfrm>
      </p:grpSpPr>
      <p:sp>
        <p:nvSpPr>
          <p:cNvPr name="TextBox 2" id="2"/>
          <p:cNvSpPr txBox="true"/>
          <p:nvPr/>
        </p:nvSpPr>
        <p:spPr>
          <a:xfrm rot="0">
            <a:off x="782759" y="1354142"/>
            <a:ext cx="2360182" cy="375285"/>
          </a:xfrm>
          <a:prstGeom prst="rect">
            <a:avLst/>
          </a:prstGeom>
        </p:spPr>
        <p:txBody>
          <a:bodyPr anchor="t" rtlCol="false" tIns="0" lIns="0" bIns="0" rIns="0">
            <a:spAutoFit/>
          </a:bodyPr>
          <a:lstStyle/>
          <a:p>
            <a:pPr algn="ctr">
              <a:lnSpc>
                <a:spcPts val="2940"/>
              </a:lnSpc>
              <a:spcBef>
                <a:spcPct val="0"/>
              </a:spcBef>
            </a:pPr>
            <a:r>
              <a:rPr lang="en-US" sz="2100">
                <a:solidFill>
                  <a:srgbClr val="00694C"/>
                </a:solidFill>
                <a:latin typeface="Brick Sans"/>
                <a:ea typeface="Brick Sans"/>
                <a:cs typeface="Brick Sans"/>
                <a:sym typeface="Brick Sans"/>
              </a:rPr>
              <a:t>EDUCATION</a:t>
            </a:r>
          </a:p>
        </p:txBody>
      </p:sp>
      <p:sp>
        <p:nvSpPr>
          <p:cNvPr name="AutoShape 3" id="3"/>
          <p:cNvSpPr/>
          <p:nvPr/>
        </p:nvSpPr>
        <p:spPr>
          <a:xfrm flipV="true">
            <a:off x="3113991" y="1551309"/>
            <a:ext cx="859749" cy="0"/>
          </a:xfrm>
          <a:prstGeom prst="line">
            <a:avLst/>
          </a:prstGeom>
          <a:ln cap="flat" w="38100">
            <a:solidFill>
              <a:srgbClr val="346551"/>
            </a:solidFill>
            <a:prstDash val="lgDash"/>
            <a:headEnd type="none" len="sm" w="sm"/>
            <a:tailEnd type="none" len="sm" w="sm"/>
          </a:ln>
        </p:spPr>
      </p:sp>
      <p:sp>
        <p:nvSpPr>
          <p:cNvPr name="Freeform 4" id="4"/>
          <p:cNvSpPr/>
          <p:nvPr/>
        </p:nvSpPr>
        <p:spPr>
          <a:xfrm flipH="false" flipV="false" rot="0">
            <a:off x="663590" y="5431234"/>
            <a:ext cx="1132701" cy="809881"/>
          </a:xfrm>
          <a:custGeom>
            <a:avLst/>
            <a:gdLst/>
            <a:ahLst/>
            <a:cxnLst/>
            <a:rect r="r" b="b" t="t" l="l"/>
            <a:pathLst>
              <a:path h="809881" w="1132701">
                <a:moveTo>
                  <a:pt x="0" y="0"/>
                </a:moveTo>
                <a:lnTo>
                  <a:pt x="1132701" y="0"/>
                </a:lnTo>
                <a:lnTo>
                  <a:pt x="1132701" y="809881"/>
                </a:lnTo>
                <a:lnTo>
                  <a:pt x="0" y="8098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flipV="true">
            <a:off x="3605638" y="5371098"/>
            <a:ext cx="0" cy="859749"/>
          </a:xfrm>
          <a:prstGeom prst="line">
            <a:avLst/>
          </a:prstGeom>
          <a:ln cap="flat" w="38100">
            <a:solidFill>
              <a:srgbClr val="00694C"/>
            </a:solidFill>
            <a:prstDash val="solid"/>
            <a:headEnd type="none" len="sm" w="sm"/>
            <a:tailEnd type="none" len="sm" w="sm"/>
          </a:ln>
        </p:spPr>
      </p:sp>
      <p:sp>
        <p:nvSpPr>
          <p:cNvPr name="Freeform 6" id="6"/>
          <p:cNvSpPr/>
          <p:nvPr/>
        </p:nvSpPr>
        <p:spPr>
          <a:xfrm flipH="false" flipV="false" rot="0">
            <a:off x="3748513" y="5389375"/>
            <a:ext cx="1208930" cy="762718"/>
          </a:xfrm>
          <a:custGeom>
            <a:avLst/>
            <a:gdLst/>
            <a:ahLst/>
            <a:cxnLst/>
            <a:rect r="r" b="b" t="t" l="l"/>
            <a:pathLst>
              <a:path h="762718" w="1208930">
                <a:moveTo>
                  <a:pt x="0" y="0"/>
                </a:moveTo>
                <a:lnTo>
                  <a:pt x="1208931" y="0"/>
                </a:lnTo>
                <a:lnTo>
                  <a:pt x="1208931" y="762718"/>
                </a:lnTo>
                <a:lnTo>
                  <a:pt x="0" y="762718"/>
                </a:lnTo>
                <a:lnTo>
                  <a:pt x="0" y="0"/>
                </a:lnTo>
                <a:close/>
              </a:path>
            </a:pathLst>
          </a:custGeom>
          <a:blipFill>
            <a:blip r:embed="rId4"/>
            <a:stretch>
              <a:fillRect l="0" t="-2209" r="0" b="-2209"/>
            </a:stretch>
          </a:blipFill>
        </p:spPr>
      </p:sp>
      <p:sp>
        <p:nvSpPr>
          <p:cNvPr name="TextBox 7" id="7"/>
          <p:cNvSpPr txBox="true"/>
          <p:nvPr/>
        </p:nvSpPr>
        <p:spPr>
          <a:xfrm rot="0">
            <a:off x="5081269" y="5378304"/>
            <a:ext cx="1543403" cy="737235"/>
          </a:xfrm>
          <a:prstGeom prst="rect">
            <a:avLst/>
          </a:prstGeom>
        </p:spPr>
        <p:txBody>
          <a:bodyPr anchor="t" rtlCol="false" tIns="0" lIns="0" bIns="0" rIns="0">
            <a:spAutoFit/>
          </a:bodyPr>
          <a:lstStyle/>
          <a:p>
            <a:pPr algn="l">
              <a:lnSpc>
                <a:spcPts val="2940"/>
              </a:lnSpc>
            </a:pPr>
            <a:r>
              <a:rPr lang="en-US" sz="2100" b="true">
                <a:solidFill>
                  <a:srgbClr val="00694C"/>
                </a:solidFill>
                <a:latin typeface="Cy Grotesk V3 Key Bold"/>
                <a:ea typeface="Cy Grotesk V3 Key Bold"/>
                <a:cs typeface="Cy Grotesk V3 Key Bold"/>
                <a:sym typeface="Cy Grotesk V3 Key Bold"/>
              </a:rPr>
              <a:t>Build</a:t>
            </a:r>
          </a:p>
          <a:p>
            <a:pPr algn="l">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Projects</a:t>
            </a:r>
          </a:p>
        </p:txBody>
      </p:sp>
      <p:sp>
        <p:nvSpPr>
          <p:cNvPr name="AutoShape 8" id="8"/>
          <p:cNvSpPr/>
          <p:nvPr/>
        </p:nvSpPr>
        <p:spPr>
          <a:xfrm flipV="true">
            <a:off x="6399043" y="5340859"/>
            <a:ext cx="0" cy="859749"/>
          </a:xfrm>
          <a:prstGeom prst="line">
            <a:avLst/>
          </a:prstGeom>
          <a:ln cap="flat" w="38100">
            <a:solidFill>
              <a:srgbClr val="00694C"/>
            </a:solidFill>
            <a:prstDash val="solid"/>
            <a:headEnd type="none" len="sm" w="sm"/>
            <a:tailEnd type="none" len="sm" w="sm"/>
          </a:ln>
        </p:spPr>
      </p:sp>
      <p:sp>
        <p:nvSpPr>
          <p:cNvPr name="Freeform 9" id="9"/>
          <p:cNvSpPr/>
          <p:nvPr/>
        </p:nvSpPr>
        <p:spPr>
          <a:xfrm flipH="false" flipV="false" rot="0">
            <a:off x="6541918" y="5389375"/>
            <a:ext cx="859366" cy="726164"/>
          </a:xfrm>
          <a:custGeom>
            <a:avLst/>
            <a:gdLst/>
            <a:ahLst/>
            <a:cxnLst/>
            <a:rect r="r" b="b" t="t" l="l"/>
            <a:pathLst>
              <a:path h="726164" w="859366">
                <a:moveTo>
                  <a:pt x="0" y="0"/>
                </a:moveTo>
                <a:lnTo>
                  <a:pt x="859366" y="0"/>
                </a:lnTo>
                <a:lnTo>
                  <a:pt x="859366" y="726164"/>
                </a:lnTo>
                <a:lnTo>
                  <a:pt x="0" y="726164"/>
                </a:lnTo>
                <a:lnTo>
                  <a:pt x="0" y="0"/>
                </a:lnTo>
                <a:close/>
              </a:path>
            </a:pathLst>
          </a:custGeom>
          <a:blipFill>
            <a:blip r:embed="rId5"/>
            <a:stretch>
              <a:fillRect l="0" t="0" r="0" b="0"/>
            </a:stretch>
          </a:blipFill>
        </p:spPr>
      </p:sp>
      <p:sp>
        <p:nvSpPr>
          <p:cNvPr name="TextBox 10" id="10"/>
          <p:cNvSpPr txBox="true"/>
          <p:nvPr/>
        </p:nvSpPr>
        <p:spPr>
          <a:xfrm rot="0">
            <a:off x="7525109" y="5360027"/>
            <a:ext cx="1700522" cy="737235"/>
          </a:xfrm>
          <a:prstGeom prst="rect">
            <a:avLst/>
          </a:prstGeom>
        </p:spPr>
        <p:txBody>
          <a:bodyPr anchor="t" rtlCol="false" tIns="0" lIns="0" bIns="0" rIns="0">
            <a:spAutoFit/>
          </a:bodyPr>
          <a:lstStyle/>
          <a:p>
            <a:pPr algn="l">
              <a:lnSpc>
                <a:spcPts val="2940"/>
              </a:lnSpc>
            </a:pPr>
            <a:r>
              <a:rPr lang="en-US" sz="2100" b="true">
                <a:solidFill>
                  <a:srgbClr val="00694C"/>
                </a:solidFill>
                <a:latin typeface="Cy Grotesk V3 Key Bold"/>
                <a:ea typeface="Cy Grotesk V3 Key Bold"/>
                <a:cs typeface="Cy Grotesk V3 Key Bold"/>
                <a:sym typeface="Cy Grotesk V3 Key Bold"/>
              </a:rPr>
              <a:t>Gain</a:t>
            </a:r>
          </a:p>
          <a:p>
            <a:pPr algn="l">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Experience</a:t>
            </a:r>
          </a:p>
        </p:txBody>
      </p:sp>
      <p:sp>
        <p:nvSpPr>
          <p:cNvPr name="AutoShape 11" id="11"/>
          <p:cNvSpPr/>
          <p:nvPr/>
        </p:nvSpPr>
        <p:spPr>
          <a:xfrm flipV="true">
            <a:off x="9206581" y="5321230"/>
            <a:ext cx="0" cy="859749"/>
          </a:xfrm>
          <a:prstGeom prst="line">
            <a:avLst/>
          </a:prstGeom>
          <a:ln cap="flat" w="38100">
            <a:solidFill>
              <a:srgbClr val="00694C"/>
            </a:solidFill>
            <a:prstDash val="solid"/>
            <a:headEnd type="none" len="sm" w="sm"/>
            <a:tailEnd type="none" len="sm" w="sm"/>
          </a:ln>
        </p:spPr>
      </p:sp>
      <p:sp>
        <p:nvSpPr>
          <p:cNvPr name="Freeform 12" id="12"/>
          <p:cNvSpPr/>
          <p:nvPr/>
        </p:nvSpPr>
        <p:spPr>
          <a:xfrm flipH="false" flipV="false" rot="0">
            <a:off x="9287543" y="5313517"/>
            <a:ext cx="784068" cy="838576"/>
          </a:xfrm>
          <a:custGeom>
            <a:avLst/>
            <a:gdLst/>
            <a:ahLst/>
            <a:cxnLst/>
            <a:rect r="r" b="b" t="t" l="l"/>
            <a:pathLst>
              <a:path h="838576" w="784068">
                <a:moveTo>
                  <a:pt x="0" y="0"/>
                </a:moveTo>
                <a:lnTo>
                  <a:pt x="784069" y="0"/>
                </a:lnTo>
                <a:lnTo>
                  <a:pt x="784069" y="838576"/>
                </a:lnTo>
                <a:lnTo>
                  <a:pt x="0" y="8385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2586743" y="0"/>
            <a:ext cx="5746778" cy="6258867"/>
          </a:xfrm>
          <a:custGeom>
            <a:avLst/>
            <a:gdLst/>
            <a:ahLst/>
            <a:cxnLst/>
            <a:rect r="r" b="b" t="t" l="l"/>
            <a:pathLst>
              <a:path h="6258867" w="5746778">
                <a:moveTo>
                  <a:pt x="0" y="0"/>
                </a:moveTo>
                <a:lnTo>
                  <a:pt x="5746778" y="0"/>
                </a:lnTo>
                <a:lnTo>
                  <a:pt x="5746778" y="6258867"/>
                </a:lnTo>
                <a:lnTo>
                  <a:pt x="0" y="62588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14" id="14"/>
          <p:cNvSpPr/>
          <p:nvPr/>
        </p:nvSpPr>
        <p:spPr>
          <a:xfrm>
            <a:off x="8591904" y="7631127"/>
            <a:ext cx="845871" cy="0"/>
          </a:xfrm>
          <a:prstGeom prst="line">
            <a:avLst/>
          </a:prstGeom>
          <a:ln cap="flat" w="38100">
            <a:solidFill>
              <a:srgbClr val="346551"/>
            </a:solidFill>
            <a:prstDash val="solid"/>
            <a:headEnd type="none" len="sm" w="sm"/>
            <a:tailEnd type="none" len="sm" w="sm"/>
          </a:ln>
        </p:spPr>
      </p:sp>
      <p:grpSp>
        <p:nvGrpSpPr>
          <p:cNvPr name="Group 15" id="15"/>
          <p:cNvGrpSpPr/>
          <p:nvPr/>
        </p:nvGrpSpPr>
        <p:grpSpPr>
          <a:xfrm rot="0">
            <a:off x="6553044" y="7168511"/>
            <a:ext cx="4613779" cy="2946560"/>
            <a:chOff x="0" y="0"/>
            <a:chExt cx="1235089" cy="788782"/>
          </a:xfrm>
        </p:grpSpPr>
        <p:sp>
          <p:nvSpPr>
            <p:cNvPr name="Freeform 16" id="16"/>
            <p:cNvSpPr/>
            <p:nvPr/>
          </p:nvSpPr>
          <p:spPr>
            <a:xfrm flipH="false" flipV="false" rot="0">
              <a:off x="0" y="0"/>
              <a:ext cx="1235089" cy="788782"/>
            </a:xfrm>
            <a:custGeom>
              <a:avLst/>
              <a:gdLst/>
              <a:ahLst/>
              <a:cxnLst/>
              <a:rect r="r" b="b" t="t" l="l"/>
              <a:pathLst>
                <a:path h="788782" w="1235089">
                  <a:moveTo>
                    <a:pt x="85578" y="0"/>
                  </a:moveTo>
                  <a:lnTo>
                    <a:pt x="1149511" y="0"/>
                  </a:lnTo>
                  <a:cubicBezTo>
                    <a:pt x="1196774" y="0"/>
                    <a:pt x="1235089" y="38315"/>
                    <a:pt x="1235089" y="85578"/>
                  </a:cubicBezTo>
                  <a:lnTo>
                    <a:pt x="1235089" y="703204"/>
                  </a:lnTo>
                  <a:cubicBezTo>
                    <a:pt x="1235089" y="750467"/>
                    <a:pt x="1196774" y="788782"/>
                    <a:pt x="1149511" y="788782"/>
                  </a:cubicBezTo>
                  <a:lnTo>
                    <a:pt x="85578" y="788782"/>
                  </a:lnTo>
                  <a:cubicBezTo>
                    <a:pt x="38315" y="788782"/>
                    <a:pt x="0" y="750467"/>
                    <a:pt x="0" y="703204"/>
                  </a:cubicBezTo>
                  <a:lnTo>
                    <a:pt x="0" y="85578"/>
                  </a:lnTo>
                  <a:cubicBezTo>
                    <a:pt x="0" y="38315"/>
                    <a:pt x="38315" y="0"/>
                    <a:pt x="85578" y="0"/>
                  </a:cubicBezTo>
                  <a:close/>
                </a:path>
              </a:pathLst>
            </a:custGeom>
            <a:solidFill>
              <a:srgbClr val="D4F6EC"/>
            </a:solidFill>
          </p:spPr>
        </p:sp>
        <p:sp>
          <p:nvSpPr>
            <p:cNvPr name="TextBox 17" id="17"/>
            <p:cNvSpPr txBox="true"/>
            <p:nvPr/>
          </p:nvSpPr>
          <p:spPr>
            <a:xfrm>
              <a:off x="0" y="-47625"/>
              <a:ext cx="1235089" cy="836407"/>
            </a:xfrm>
            <a:prstGeom prst="rect">
              <a:avLst/>
            </a:prstGeom>
          </p:spPr>
          <p:txBody>
            <a:bodyPr anchor="ctr" rtlCol="false" tIns="50800" lIns="50800" bIns="50800" rIns="50800"/>
            <a:lstStyle/>
            <a:p>
              <a:pPr algn="ctr">
                <a:lnSpc>
                  <a:spcPts val="2940"/>
                </a:lnSpc>
              </a:pPr>
            </a:p>
          </p:txBody>
        </p:sp>
      </p:grpSp>
      <p:grpSp>
        <p:nvGrpSpPr>
          <p:cNvPr name="Group 18" id="18"/>
          <p:cNvGrpSpPr/>
          <p:nvPr/>
        </p:nvGrpSpPr>
        <p:grpSpPr>
          <a:xfrm rot="0">
            <a:off x="6661718" y="7390996"/>
            <a:ext cx="832826" cy="850541"/>
            <a:chOff x="0" y="0"/>
            <a:chExt cx="795871" cy="812800"/>
          </a:xfrm>
        </p:grpSpPr>
        <p:sp>
          <p:nvSpPr>
            <p:cNvPr name="Freeform 19" id="19"/>
            <p:cNvSpPr/>
            <p:nvPr/>
          </p:nvSpPr>
          <p:spPr>
            <a:xfrm flipH="false" flipV="false" rot="0">
              <a:off x="0" y="0"/>
              <a:ext cx="795871" cy="812800"/>
            </a:xfrm>
            <a:custGeom>
              <a:avLst/>
              <a:gdLst/>
              <a:ahLst/>
              <a:cxnLst/>
              <a:rect r="r" b="b" t="t" l="l"/>
              <a:pathLst>
                <a:path h="812800" w="795871">
                  <a:moveTo>
                    <a:pt x="397936" y="0"/>
                  </a:moveTo>
                  <a:cubicBezTo>
                    <a:pt x="178162" y="0"/>
                    <a:pt x="0" y="181951"/>
                    <a:pt x="0" y="406400"/>
                  </a:cubicBezTo>
                  <a:cubicBezTo>
                    <a:pt x="0" y="630849"/>
                    <a:pt x="178162" y="812800"/>
                    <a:pt x="397936" y="812800"/>
                  </a:cubicBezTo>
                  <a:cubicBezTo>
                    <a:pt x="617710" y="812800"/>
                    <a:pt x="795871" y="630849"/>
                    <a:pt x="795871" y="406400"/>
                  </a:cubicBezTo>
                  <a:cubicBezTo>
                    <a:pt x="795871" y="181951"/>
                    <a:pt x="617710" y="0"/>
                    <a:pt x="397936" y="0"/>
                  </a:cubicBezTo>
                  <a:close/>
                </a:path>
              </a:pathLst>
            </a:custGeom>
            <a:solidFill>
              <a:srgbClr val="346551"/>
            </a:solidFill>
          </p:spPr>
        </p:sp>
        <p:sp>
          <p:nvSpPr>
            <p:cNvPr name="TextBox 20" id="20"/>
            <p:cNvSpPr txBox="true"/>
            <p:nvPr/>
          </p:nvSpPr>
          <p:spPr>
            <a:xfrm>
              <a:off x="74613" y="9525"/>
              <a:ext cx="646646" cy="727075"/>
            </a:xfrm>
            <a:prstGeom prst="rect">
              <a:avLst/>
            </a:prstGeom>
          </p:spPr>
          <p:txBody>
            <a:bodyPr anchor="ctr" rtlCol="false" tIns="50800" lIns="50800" bIns="50800" rIns="50800"/>
            <a:lstStyle/>
            <a:p>
              <a:pPr algn="ctr">
                <a:lnSpc>
                  <a:spcPts val="4199"/>
                </a:lnSpc>
              </a:pPr>
              <a:r>
                <a:rPr lang="en-US" b="true" sz="2999">
                  <a:solidFill>
                    <a:srgbClr val="FFFFFF"/>
                  </a:solidFill>
                  <a:latin typeface="Cy Grotesk V3 Key Bold"/>
                  <a:ea typeface="Cy Grotesk V3 Key Bold"/>
                  <a:cs typeface="Cy Grotesk V3 Key Bold"/>
                  <a:sym typeface="Cy Grotesk V3 Key Bold"/>
                </a:rPr>
                <a:t>02</a:t>
              </a:r>
            </a:p>
          </p:txBody>
        </p:sp>
      </p:grpSp>
      <p:sp>
        <p:nvSpPr>
          <p:cNvPr name="Freeform 21" id="21"/>
          <p:cNvSpPr/>
          <p:nvPr/>
        </p:nvSpPr>
        <p:spPr>
          <a:xfrm flipH="false" flipV="false" rot="0">
            <a:off x="8427321" y="7384379"/>
            <a:ext cx="846314" cy="562806"/>
          </a:xfrm>
          <a:custGeom>
            <a:avLst/>
            <a:gdLst/>
            <a:ahLst/>
            <a:cxnLst/>
            <a:rect r="r" b="b" t="t" l="l"/>
            <a:pathLst>
              <a:path h="562806" w="846314">
                <a:moveTo>
                  <a:pt x="0" y="0"/>
                </a:moveTo>
                <a:lnTo>
                  <a:pt x="846314" y="0"/>
                </a:lnTo>
                <a:lnTo>
                  <a:pt x="846314" y="562806"/>
                </a:lnTo>
                <a:lnTo>
                  <a:pt x="0" y="562806"/>
                </a:lnTo>
                <a:lnTo>
                  <a:pt x="0" y="0"/>
                </a:lnTo>
                <a:close/>
              </a:path>
            </a:pathLst>
          </a:custGeom>
          <a:blipFill>
            <a:blip r:embed="rId4"/>
            <a:stretch>
              <a:fillRect l="-472" t="0" r="-472" b="0"/>
            </a:stretch>
          </a:blipFill>
        </p:spPr>
      </p:sp>
      <p:grpSp>
        <p:nvGrpSpPr>
          <p:cNvPr name="Group 22" id="22"/>
          <p:cNvGrpSpPr/>
          <p:nvPr/>
        </p:nvGrpSpPr>
        <p:grpSpPr>
          <a:xfrm rot="0">
            <a:off x="12005023" y="7129396"/>
            <a:ext cx="4701645" cy="2985675"/>
            <a:chOff x="0" y="0"/>
            <a:chExt cx="1192243" cy="757107"/>
          </a:xfrm>
        </p:grpSpPr>
        <p:sp>
          <p:nvSpPr>
            <p:cNvPr name="Freeform 23" id="23"/>
            <p:cNvSpPr/>
            <p:nvPr/>
          </p:nvSpPr>
          <p:spPr>
            <a:xfrm flipH="false" flipV="false" rot="0">
              <a:off x="0" y="0"/>
              <a:ext cx="1192243" cy="757107"/>
            </a:xfrm>
            <a:custGeom>
              <a:avLst/>
              <a:gdLst/>
              <a:ahLst/>
              <a:cxnLst/>
              <a:rect r="r" b="b" t="t" l="l"/>
              <a:pathLst>
                <a:path h="757107" w="1192243">
                  <a:moveTo>
                    <a:pt x="83979" y="0"/>
                  </a:moveTo>
                  <a:lnTo>
                    <a:pt x="1108264" y="0"/>
                  </a:lnTo>
                  <a:cubicBezTo>
                    <a:pt x="1130537" y="0"/>
                    <a:pt x="1151897" y="8848"/>
                    <a:pt x="1167646" y="24597"/>
                  </a:cubicBezTo>
                  <a:cubicBezTo>
                    <a:pt x="1183395" y="40346"/>
                    <a:pt x="1192243" y="61706"/>
                    <a:pt x="1192243" y="83979"/>
                  </a:cubicBezTo>
                  <a:lnTo>
                    <a:pt x="1192243" y="673129"/>
                  </a:lnTo>
                  <a:cubicBezTo>
                    <a:pt x="1192243" y="719509"/>
                    <a:pt x="1154645" y="757107"/>
                    <a:pt x="1108264" y="757107"/>
                  </a:cubicBezTo>
                  <a:lnTo>
                    <a:pt x="83979" y="757107"/>
                  </a:lnTo>
                  <a:cubicBezTo>
                    <a:pt x="61706" y="757107"/>
                    <a:pt x="40346" y="748260"/>
                    <a:pt x="24597" y="732511"/>
                  </a:cubicBezTo>
                  <a:cubicBezTo>
                    <a:pt x="8848" y="716762"/>
                    <a:pt x="0" y="695401"/>
                    <a:pt x="0" y="673129"/>
                  </a:cubicBezTo>
                  <a:lnTo>
                    <a:pt x="0" y="83979"/>
                  </a:lnTo>
                  <a:cubicBezTo>
                    <a:pt x="0" y="61706"/>
                    <a:pt x="8848" y="40346"/>
                    <a:pt x="24597" y="24597"/>
                  </a:cubicBezTo>
                  <a:cubicBezTo>
                    <a:pt x="40346" y="8848"/>
                    <a:pt x="61706" y="0"/>
                    <a:pt x="83979" y="0"/>
                  </a:cubicBezTo>
                  <a:close/>
                </a:path>
              </a:pathLst>
            </a:custGeom>
            <a:solidFill>
              <a:srgbClr val="D4F6EC"/>
            </a:solidFill>
          </p:spPr>
        </p:sp>
        <p:sp>
          <p:nvSpPr>
            <p:cNvPr name="TextBox 24" id="24"/>
            <p:cNvSpPr txBox="true"/>
            <p:nvPr/>
          </p:nvSpPr>
          <p:spPr>
            <a:xfrm>
              <a:off x="0" y="-47625"/>
              <a:ext cx="1192243" cy="804732"/>
            </a:xfrm>
            <a:prstGeom prst="rect">
              <a:avLst/>
            </a:prstGeom>
          </p:spPr>
          <p:txBody>
            <a:bodyPr anchor="ctr" rtlCol="false" tIns="50800" lIns="50800" bIns="50800" rIns="50800"/>
            <a:lstStyle/>
            <a:p>
              <a:pPr algn="ctr">
                <a:lnSpc>
                  <a:spcPts val="2940"/>
                </a:lnSpc>
              </a:pPr>
            </a:p>
          </p:txBody>
        </p:sp>
      </p:grpSp>
      <p:grpSp>
        <p:nvGrpSpPr>
          <p:cNvPr name="Group 25" id="25"/>
          <p:cNvGrpSpPr/>
          <p:nvPr/>
        </p:nvGrpSpPr>
        <p:grpSpPr>
          <a:xfrm rot="0">
            <a:off x="12100273" y="7370094"/>
            <a:ext cx="886522" cy="892345"/>
            <a:chOff x="0" y="0"/>
            <a:chExt cx="807496" cy="812800"/>
          </a:xfrm>
        </p:grpSpPr>
        <p:sp>
          <p:nvSpPr>
            <p:cNvPr name="Freeform 26" id="26"/>
            <p:cNvSpPr/>
            <p:nvPr/>
          </p:nvSpPr>
          <p:spPr>
            <a:xfrm flipH="false" flipV="false" rot="0">
              <a:off x="0" y="0"/>
              <a:ext cx="807496" cy="812800"/>
            </a:xfrm>
            <a:custGeom>
              <a:avLst/>
              <a:gdLst/>
              <a:ahLst/>
              <a:cxnLst/>
              <a:rect r="r" b="b" t="t" l="l"/>
              <a:pathLst>
                <a:path h="812800" w="807496">
                  <a:moveTo>
                    <a:pt x="403748" y="0"/>
                  </a:moveTo>
                  <a:cubicBezTo>
                    <a:pt x="180764" y="0"/>
                    <a:pt x="0" y="181951"/>
                    <a:pt x="0" y="406400"/>
                  </a:cubicBezTo>
                  <a:cubicBezTo>
                    <a:pt x="0" y="630849"/>
                    <a:pt x="180764" y="812800"/>
                    <a:pt x="403748" y="812800"/>
                  </a:cubicBezTo>
                  <a:cubicBezTo>
                    <a:pt x="626732" y="812800"/>
                    <a:pt x="807496" y="630849"/>
                    <a:pt x="807496" y="406400"/>
                  </a:cubicBezTo>
                  <a:cubicBezTo>
                    <a:pt x="807496" y="181951"/>
                    <a:pt x="626732" y="0"/>
                    <a:pt x="403748" y="0"/>
                  </a:cubicBezTo>
                  <a:close/>
                </a:path>
              </a:pathLst>
            </a:custGeom>
            <a:solidFill>
              <a:srgbClr val="346551"/>
            </a:solidFill>
          </p:spPr>
        </p:sp>
        <p:sp>
          <p:nvSpPr>
            <p:cNvPr name="TextBox 27" id="27"/>
            <p:cNvSpPr txBox="true"/>
            <p:nvPr/>
          </p:nvSpPr>
          <p:spPr>
            <a:xfrm>
              <a:off x="75703" y="9525"/>
              <a:ext cx="656091" cy="727075"/>
            </a:xfrm>
            <a:prstGeom prst="rect">
              <a:avLst/>
            </a:prstGeom>
          </p:spPr>
          <p:txBody>
            <a:bodyPr anchor="ctr" rtlCol="false" tIns="50800" lIns="50800" bIns="50800" rIns="50800"/>
            <a:lstStyle/>
            <a:p>
              <a:pPr algn="ctr">
                <a:lnSpc>
                  <a:spcPts val="4199"/>
                </a:lnSpc>
              </a:pPr>
              <a:r>
                <a:rPr lang="en-US" b="true" sz="2999">
                  <a:solidFill>
                    <a:srgbClr val="FFFFFF"/>
                  </a:solidFill>
                  <a:latin typeface="Cy Grotesk V3 Key Bold"/>
                  <a:ea typeface="Cy Grotesk V3 Key Bold"/>
                  <a:cs typeface="Cy Grotesk V3 Key Bold"/>
                  <a:sym typeface="Cy Grotesk V3 Key Bold"/>
                </a:rPr>
                <a:t>03</a:t>
              </a:r>
            </a:p>
          </p:txBody>
        </p:sp>
      </p:grpSp>
      <p:grpSp>
        <p:nvGrpSpPr>
          <p:cNvPr name="Group 28" id="28"/>
          <p:cNvGrpSpPr/>
          <p:nvPr/>
        </p:nvGrpSpPr>
        <p:grpSpPr>
          <a:xfrm rot="0">
            <a:off x="821746" y="7168511"/>
            <a:ext cx="4845473" cy="3017056"/>
            <a:chOff x="0" y="0"/>
            <a:chExt cx="1264075" cy="787082"/>
          </a:xfrm>
        </p:grpSpPr>
        <p:sp>
          <p:nvSpPr>
            <p:cNvPr name="Freeform 29" id="29"/>
            <p:cNvSpPr/>
            <p:nvPr/>
          </p:nvSpPr>
          <p:spPr>
            <a:xfrm flipH="false" flipV="false" rot="0">
              <a:off x="0" y="0"/>
              <a:ext cx="1264075" cy="787082"/>
            </a:xfrm>
            <a:custGeom>
              <a:avLst/>
              <a:gdLst/>
              <a:ahLst/>
              <a:cxnLst/>
              <a:rect r="r" b="b" t="t" l="l"/>
              <a:pathLst>
                <a:path h="787082" w="1264075">
                  <a:moveTo>
                    <a:pt x="44737" y="0"/>
                  </a:moveTo>
                  <a:lnTo>
                    <a:pt x="1219338" y="0"/>
                  </a:lnTo>
                  <a:cubicBezTo>
                    <a:pt x="1244045" y="0"/>
                    <a:pt x="1264075" y="20030"/>
                    <a:pt x="1264075" y="44737"/>
                  </a:cubicBezTo>
                  <a:lnTo>
                    <a:pt x="1264075" y="742345"/>
                  </a:lnTo>
                  <a:cubicBezTo>
                    <a:pt x="1264075" y="767052"/>
                    <a:pt x="1244045" y="787082"/>
                    <a:pt x="1219338" y="787082"/>
                  </a:cubicBezTo>
                  <a:lnTo>
                    <a:pt x="44737" y="787082"/>
                  </a:lnTo>
                  <a:cubicBezTo>
                    <a:pt x="32872" y="787082"/>
                    <a:pt x="21493" y="782369"/>
                    <a:pt x="13103" y="773979"/>
                  </a:cubicBezTo>
                  <a:cubicBezTo>
                    <a:pt x="4713" y="765589"/>
                    <a:pt x="0" y="754210"/>
                    <a:pt x="0" y="742345"/>
                  </a:cubicBezTo>
                  <a:lnTo>
                    <a:pt x="0" y="44737"/>
                  </a:lnTo>
                  <a:cubicBezTo>
                    <a:pt x="0" y="20030"/>
                    <a:pt x="20030" y="0"/>
                    <a:pt x="44737" y="0"/>
                  </a:cubicBezTo>
                  <a:close/>
                </a:path>
              </a:pathLst>
            </a:custGeom>
            <a:solidFill>
              <a:srgbClr val="D4F6EC"/>
            </a:solidFill>
          </p:spPr>
        </p:sp>
        <p:sp>
          <p:nvSpPr>
            <p:cNvPr name="TextBox 30" id="30"/>
            <p:cNvSpPr txBox="true"/>
            <p:nvPr/>
          </p:nvSpPr>
          <p:spPr>
            <a:xfrm>
              <a:off x="0" y="-47625"/>
              <a:ext cx="1264075" cy="834707"/>
            </a:xfrm>
            <a:prstGeom prst="rect">
              <a:avLst/>
            </a:prstGeom>
          </p:spPr>
          <p:txBody>
            <a:bodyPr anchor="ctr" rtlCol="false" tIns="50800" lIns="50800" bIns="50800" rIns="50800"/>
            <a:lstStyle/>
            <a:p>
              <a:pPr algn="ctr">
                <a:lnSpc>
                  <a:spcPts val="2940"/>
                </a:lnSpc>
              </a:pPr>
            </a:p>
          </p:txBody>
        </p:sp>
      </p:grpSp>
      <p:sp>
        <p:nvSpPr>
          <p:cNvPr name="Freeform 31" id="31"/>
          <p:cNvSpPr/>
          <p:nvPr/>
        </p:nvSpPr>
        <p:spPr>
          <a:xfrm flipH="false" flipV="false" rot="0">
            <a:off x="2890897" y="7292336"/>
            <a:ext cx="842747" cy="623633"/>
          </a:xfrm>
          <a:custGeom>
            <a:avLst/>
            <a:gdLst/>
            <a:ahLst/>
            <a:cxnLst/>
            <a:rect r="r" b="b" t="t" l="l"/>
            <a:pathLst>
              <a:path h="623633" w="842747">
                <a:moveTo>
                  <a:pt x="0" y="0"/>
                </a:moveTo>
                <a:lnTo>
                  <a:pt x="842747" y="0"/>
                </a:lnTo>
                <a:lnTo>
                  <a:pt x="842747" y="623633"/>
                </a:lnTo>
                <a:lnTo>
                  <a:pt x="0" y="6236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32" id="32"/>
          <p:cNvGrpSpPr/>
          <p:nvPr/>
        </p:nvGrpSpPr>
        <p:grpSpPr>
          <a:xfrm rot="0">
            <a:off x="969803" y="7402803"/>
            <a:ext cx="887233" cy="859636"/>
            <a:chOff x="0" y="0"/>
            <a:chExt cx="838894" cy="812800"/>
          </a:xfrm>
        </p:grpSpPr>
        <p:sp>
          <p:nvSpPr>
            <p:cNvPr name="Freeform 33" id="33"/>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346551"/>
            </a:solidFill>
          </p:spPr>
        </p:sp>
        <p:sp>
          <p:nvSpPr>
            <p:cNvPr name="TextBox 34" id="34"/>
            <p:cNvSpPr txBox="true"/>
            <p:nvPr/>
          </p:nvSpPr>
          <p:spPr>
            <a:xfrm>
              <a:off x="78646" y="9525"/>
              <a:ext cx="681601" cy="727075"/>
            </a:xfrm>
            <a:prstGeom prst="rect">
              <a:avLst/>
            </a:prstGeom>
          </p:spPr>
          <p:txBody>
            <a:bodyPr anchor="ctr" rtlCol="false" tIns="50800" lIns="50800" bIns="50800" rIns="50800"/>
            <a:lstStyle/>
            <a:p>
              <a:pPr algn="ctr">
                <a:lnSpc>
                  <a:spcPts val="4199"/>
                </a:lnSpc>
              </a:pPr>
              <a:r>
                <a:rPr lang="en-US" b="true" sz="2999">
                  <a:solidFill>
                    <a:srgbClr val="FFFFFF"/>
                  </a:solidFill>
                  <a:latin typeface="Cy Grotesk V3 Key Bold"/>
                  <a:ea typeface="Cy Grotesk V3 Key Bold"/>
                  <a:cs typeface="Cy Grotesk V3 Key Bold"/>
                  <a:sym typeface="Cy Grotesk V3 Key Bold"/>
                </a:rPr>
                <a:t>01</a:t>
              </a:r>
            </a:p>
          </p:txBody>
        </p:sp>
      </p:grpSp>
      <p:sp>
        <p:nvSpPr>
          <p:cNvPr name="Freeform 35" id="35"/>
          <p:cNvSpPr/>
          <p:nvPr/>
        </p:nvSpPr>
        <p:spPr>
          <a:xfrm flipH="false" flipV="false" rot="0">
            <a:off x="14047523" y="7336803"/>
            <a:ext cx="865790" cy="610382"/>
          </a:xfrm>
          <a:custGeom>
            <a:avLst/>
            <a:gdLst/>
            <a:ahLst/>
            <a:cxnLst/>
            <a:rect r="r" b="b" t="t" l="l"/>
            <a:pathLst>
              <a:path h="610382" w="865790">
                <a:moveTo>
                  <a:pt x="0" y="0"/>
                </a:moveTo>
                <a:lnTo>
                  <a:pt x="865790" y="0"/>
                </a:lnTo>
                <a:lnTo>
                  <a:pt x="865790" y="610382"/>
                </a:lnTo>
                <a:lnTo>
                  <a:pt x="0" y="6103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6" id="36"/>
          <p:cNvGrpSpPr/>
          <p:nvPr/>
        </p:nvGrpSpPr>
        <p:grpSpPr>
          <a:xfrm rot="0">
            <a:off x="1172118" y="9467997"/>
            <a:ext cx="4143508" cy="548066"/>
            <a:chOff x="0" y="0"/>
            <a:chExt cx="1080948" cy="142978"/>
          </a:xfrm>
        </p:grpSpPr>
        <p:sp>
          <p:nvSpPr>
            <p:cNvPr name="Freeform 37" id="37"/>
            <p:cNvSpPr/>
            <p:nvPr/>
          </p:nvSpPr>
          <p:spPr>
            <a:xfrm flipH="false" flipV="false" rot="0">
              <a:off x="0" y="0"/>
              <a:ext cx="1080948" cy="142978"/>
            </a:xfrm>
            <a:custGeom>
              <a:avLst/>
              <a:gdLst/>
              <a:ahLst/>
              <a:cxnLst/>
              <a:rect r="r" b="b" t="t" l="l"/>
              <a:pathLst>
                <a:path h="142978" w="1080948">
                  <a:moveTo>
                    <a:pt x="71489" y="0"/>
                  </a:moveTo>
                  <a:lnTo>
                    <a:pt x="1009459" y="0"/>
                  </a:lnTo>
                  <a:cubicBezTo>
                    <a:pt x="1048941" y="0"/>
                    <a:pt x="1080948" y="32007"/>
                    <a:pt x="1080948" y="71489"/>
                  </a:cubicBezTo>
                  <a:lnTo>
                    <a:pt x="1080948" y="71489"/>
                  </a:lnTo>
                  <a:cubicBezTo>
                    <a:pt x="1080948" y="90449"/>
                    <a:pt x="1073416" y="108633"/>
                    <a:pt x="1060010" y="122039"/>
                  </a:cubicBezTo>
                  <a:cubicBezTo>
                    <a:pt x="1046603" y="135446"/>
                    <a:pt x="1028419" y="142978"/>
                    <a:pt x="1009459" y="142978"/>
                  </a:cubicBezTo>
                  <a:lnTo>
                    <a:pt x="71489" y="142978"/>
                  </a:lnTo>
                  <a:cubicBezTo>
                    <a:pt x="32007" y="142978"/>
                    <a:pt x="0" y="110971"/>
                    <a:pt x="0" y="71489"/>
                  </a:cubicBezTo>
                  <a:lnTo>
                    <a:pt x="0" y="71489"/>
                  </a:lnTo>
                  <a:cubicBezTo>
                    <a:pt x="0" y="32007"/>
                    <a:pt x="32007" y="0"/>
                    <a:pt x="71489" y="0"/>
                  </a:cubicBezTo>
                  <a:close/>
                </a:path>
              </a:pathLst>
            </a:custGeom>
            <a:solidFill>
              <a:srgbClr val="6C9E8F"/>
            </a:solidFill>
          </p:spPr>
        </p:sp>
        <p:sp>
          <p:nvSpPr>
            <p:cNvPr name="TextBox 38" id="38"/>
            <p:cNvSpPr txBox="true"/>
            <p:nvPr/>
          </p:nvSpPr>
          <p:spPr>
            <a:xfrm>
              <a:off x="0" y="-47625"/>
              <a:ext cx="1080948" cy="190603"/>
            </a:xfrm>
            <a:prstGeom prst="rect">
              <a:avLst/>
            </a:prstGeom>
          </p:spPr>
          <p:txBody>
            <a:bodyPr anchor="ctr" rtlCol="false" tIns="50800" lIns="50800" bIns="50800" rIns="50800"/>
            <a:lstStyle/>
            <a:p>
              <a:pPr algn="ctr">
                <a:lnSpc>
                  <a:spcPts val="2940"/>
                </a:lnSpc>
              </a:pPr>
            </a:p>
          </p:txBody>
        </p:sp>
      </p:grpSp>
      <p:sp>
        <p:nvSpPr>
          <p:cNvPr name="TextBox 39" id="39"/>
          <p:cNvSpPr txBox="true"/>
          <p:nvPr/>
        </p:nvSpPr>
        <p:spPr>
          <a:xfrm rot="0">
            <a:off x="10133524" y="5383609"/>
            <a:ext cx="1876537" cy="737235"/>
          </a:xfrm>
          <a:prstGeom prst="rect">
            <a:avLst/>
          </a:prstGeom>
        </p:spPr>
        <p:txBody>
          <a:bodyPr anchor="t" rtlCol="false" tIns="0" lIns="0" bIns="0" rIns="0">
            <a:spAutoFit/>
          </a:bodyPr>
          <a:lstStyle/>
          <a:p>
            <a:pPr algn="l">
              <a:lnSpc>
                <a:spcPts val="2940"/>
              </a:lnSpc>
            </a:pPr>
            <a:r>
              <a:rPr lang="en-US" sz="2100" b="true">
                <a:solidFill>
                  <a:srgbClr val="00694C"/>
                </a:solidFill>
                <a:latin typeface="Cy Grotesk V3 Key Bold"/>
                <a:ea typeface="Cy Grotesk V3 Key Bold"/>
                <a:cs typeface="Cy Grotesk V3 Key Bold"/>
                <a:sym typeface="Cy Grotesk V3 Key Bold"/>
              </a:rPr>
              <a:t>Grow</a:t>
            </a:r>
          </a:p>
          <a:p>
            <a:pPr algn="l">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Continuously</a:t>
            </a:r>
          </a:p>
        </p:txBody>
      </p:sp>
      <p:sp>
        <p:nvSpPr>
          <p:cNvPr name="TextBox 40" id="40"/>
          <p:cNvSpPr txBox="true"/>
          <p:nvPr/>
        </p:nvSpPr>
        <p:spPr>
          <a:xfrm rot="0">
            <a:off x="7659102" y="8059047"/>
            <a:ext cx="2675921" cy="393265"/>
          </a:xfrm>
          <a:prstGeom prst="rect">
            <a:avLst/>
          </a:prstGeom>
        </p:spPr>
        <p:txBody>
          <a:bodyPr anchor="t" rtlCol="false" tIns="0" lIns="0" bIns="0" rIns="0">
            <a:spAutoFit/>
          </a:bodyPr>
          <a:lstStyle/>
          <a:p>
            <a:pPr algn="ctr">
              <a:lnSpc>
                <a:spcPts val="3168"/>
              </a:lnSpc>
              <a:spcBef>
                <a:spcPct val="0"/>
              </a:spcBef>
            </a:pPr>
            <a:r>
              <a:rPr lang="en-US" b="true" sz="2262">
                <a:solidFill>
                  <a:srgbClr val="00694C"/>
                </a:solidFill>
                <a:latin typeface="Arimo Bold"/>
                <a:ea typeface="Arimo Bold"/>
                <a:cs typeface="Arimo Bold"/>
                <a:sym typeface="Arimo Bold"/>
              </a:rPr>
              <a:t>Technical Learning</a:t>
            </a:r>
          </a:p>
        </p:txBody>
      </p:sp>
      <p:sp>
        <p:nvSpPr>
          <p:cNvPr name="TextBox 41" id="41"/>
          <p:cNvSpPr txBox="true"/>
          <p:nvPr/>
        </p:nvSpPr>
        <p:spPr>
          <a:xfrm rot="0">
            <a:off x="7045499" y="8573699"/>
            <a:ext cx="4025468" cy="726103"/>
          </a:xfrm>
          <a:prstGeom prst="rect">
            <a:avLst/>
          </a:prstGeom>
        </p:spPr>
        <p:txBody>
          <a:bodyPr anchor="t" rtlCol="false" tIns="0" lIns="0" bIns="0" rIns="0">
            <a:spAutoFit/>
          </a:bodyPr>
          <a:lstStyle/>
          <a:p>
            <a:pPr algn="ctr">
              <a:lnSpc>
                <a:spcPts val="2892"/>
              </a:lnSpc>
            </a:pPr>
            <a:r>
              <a:rPr lang="en-US" sz="2066" b="true">
                <a:solidFill>
                  <a:srgbClr val="00694C"/>
                </a:solidFill>
                <a:latin typeface="Arimo Bold"/>
                <a:ea typeface="Arimo Bold"/>
                <a:cs typeface="Arimo Bold"/>
                <a:sym typeface="Arimo Bold"/>
              </a:rPr>
              <a:t>Developing my skills in modern</a:t>
            </a:r>
          </a:p>
          <a:p>
            <a:pPr algn="ctr">
              <a:lnSpc>
                <a:spcPts val="2892"/>
              </a:lnSpc>
              <a:spcBef>
                <a:spcPct val="0"/>
              </a:spcBef>
            </a:pPr>
            <a:r>
              <a:rPr lang="en-US" b="true" sz="2066">
                <a:solidFill>
                  <a:srgbClr val="00694C"/>
                </a:solidFill>
                <a:latin typeface="Arimo Bold"/>
                <a:ea typeface="Arimo Bold"/>
                <a:cs typeface="Arimo Bold"/>
                <a:sym typeface="Arimo Bold"/>
              </a:rPr>
              <a:t>technologies and tools.</a:t>
            </a:r>
          </a:p>
        </p:txBody>
      </p:sp>
      <p:sp>
        <p:nvSpPr>
          <p:cNvPr name="TextBox 42" id="42"/>
          <p:cNvSpPr txBox="true"/>
          <p:nvPr/>
        </p:nvSpPr>
        <p:spPr>
          <a:xfrm rot="0">
            <a:off x="821746" y="6593540"/>
            <a:ext cx="5218708" cy="381002"/>
          </a:xfrm>
          <a:prstGeom prst="rect">
            <a:avLst/>
          </a:prstGeom>
        </p:spPr>
        <p:txBody>
          <a:bodyPr anchor="t" rtlCol="false" tIns="0" lIns="0" bIns="0" rIns="0">
            <a:spAutoFit/>
          </a:bodyPr>
          <a:lstStyle/>
          <a:p>
            <a:pPr algn="l" marL="0" indent="0" lvl="1">
              <a:lnSpc>
                <a:spcPts val="2700"/>
              </a:lnSpc>
            </a:pPr>
            <a:r>
              <a:rPr lang="en-US" b="true" sz="3000" spc="-138">
                <a:solidFill>
                  <a:srgbClr val="00694C"/>
                </a:solidFill>
                <a:latin typeface="Raleway Bold"/>
                <a:ea typeface="Raleway Bold"/>
                <a:cs typeface="Raleway Bold"/>
                <a:sym typeface="Raleway Bold"/>
              </a:rPr>
              <a:t>My Education  &amp; Learning path</a:t>
            </a:r>
          </a:p>
        </p:txBody>
      </p:sp>
      <p:sp>
        <p:nvSpPr>
          <p:cNvPr name="TextBox 43" id="43"/>
          <p:cNvSpPr txBox="true"/>
          <p:nvPr/>
        </p:nvSpPr>
        <p:spPr>
          <a:xfrm rot="0">
            <a:off x="763397" y="1800789"/>
            <a:ext cx="6314734" cy="2382818"/>
          </a:xfrm>
          <a:prstGeom prst="rect">
            <a:avLst/>
          </a:prstGeom>
        </p:spPr>
        <p:txBody>
          <a:bodyPr anchor="t" rtlCol="false" tIns="0" lIns="0" bIns="0" rIns="0">
            <a:spAutoFit/>
          </a:bodyPr>
          <a:lstStyle/>
          <a:p>
            <a:pPr algn="l">
              <a:lnSpc>
                <a:spcPts val="9037"/>
              </a:lnSpc>
            </a:pPr>
            <a:r>
              <a:rPr lang="en-US" sz="10041" spc="-461">
                <a:solidFill>
                  <a:srgbClr val="000000"/>
                </a:solidFill>
                <a:latin typeface="Fredoka"/>
                <a:ea typeface="Fredoka"/>
                <a:cs typeface="Fredoka"/>
                <a:sym typeface="Fredoka"/>
              </a:rPr>
              <a:t>Learning</a:t>
            </a:r>
          </a:p>
          <a:p>
            <a:pPr algn="l" marL="0" indent="0" lvl="1">
              <a:lnSpc>
                <a:spcPts val="9037"/>
              </a:lnSpc>
            </a:pPr>
            <a:r>
              <a:rPr lang="en-US" sz="10041" spc="-461">
                <a:solidFill>
                  <a:srgbClr val="00694C"/>
                </a:solidFill>
                <a:latin typeface="Fredoka"/>
                <a:ea typeface="Fredoka"/>
                <a:cs typeface="Fredoka"/>
                <a:sym typeface="Fredoka"/>
              </a:rPr>
              <a:t>Journey</a:t>
            </a:r>
          </a:p>
        </p:txBody>
      </p:sp>
      <p:sp>
        <p:nvSpPr>
          <p:cNvPr name="TextBox 44" id="44"/>
          <p:cNvSpPr txBox="true"/>
          <p:nvPr/>
        </p:nvSpPr>
        <p:spPr>
          <a:xfrm rot="0">
            <a:off x="663590" y="4135982"/>
            <a:ext cx="10448883" cy="967985"/>
          </a:xfrm>
          <a:prstGeom prst="rect">
            <a:avLst/>
          </a:prstGeom>
        </p:spPr>
        <p:txBody>
          <a:bodyPr anchor="t" rtlCol="false" tIns="0" lIns="0" bIns="0" rIns="0">
            <a:spAutoFit/>
          </a:bodyPr>
          <a:lstStyle/>
          <a:p>
            <a:pPr algn="l">
              <a:lnSpc>
                <a:spcPts val="3871"/>
              </a:lnSpc>
            </a:pPr>
            <a:r>
              <a:rPr lang="en-US" sz="2765" b="true">
                <a:solidFill>
                  <a:srgbClr val="00694C"/>
                </a:solidFill>
                <a:latin typeface="Raleway Bold"/>
                <a:ea typeface="Raleway Bold"/>
                <a:cs typeface="Raleway Bold"/>
                <a:sym typeface="Raleway Bold"/>
              </a:rPr>
              <a:t>Building my knowledge through academic</a:t>
            </a:r>
          </a:p>
          <a:p>
            <a:pPr algn="l">
              <a:lnSpc>
                <a:spcPts val="3871"/>
              </a:lnSpc>
              <a:spcBef>
                <a:spcPct val="0"/>
              </a:spcBef>
            </a:pPr>
            <a:r>
              <a:rPr lang="en-US" b="true" sz="2765">
                <a:solidFill>
                  <a:srgbClr val="00694C"/>
                </a:solidFill>
                <a:latin typeface="Raleway Bold"/>
                <a:ea typeface="Raleway Bold"/>
                <a:cs typeface="Raleway Bold"/>
                <a:sym typeface="Raleway Bold"/>
              </a:rPr>
              <a:t>learninf, practical projects, and continuous self-development.</a:t>
            </a:r>
          </a:p>
        </p:txBody>
      </p:sp>
      <p:sp>
        <p:nvSpPr>
          <p:cNvPr name="TextBox 45" id="45"/>
          <p:cNvSpPr txBox="true"/>
          <p:nvPr/>
        </p:nvSpPr>
        <p:spPr>
          <a:xfrm rot="0">
            <a:off x="1919360" y="5443744"/>
            <a:ext cx="1543403" cy="737235"/>
          </a:xfrm>
          <a:prstGeom prst="rect">
            <a:avLst/>
          </a:prstGeom>
        </p:spPr>
        <p:txBody>
          <a:bodyPr anchor="t" rtlCol="false" tIns="0" lIns="0" bIns="0" rIns="0">
            <a:spAutoFit/>
          </a:bodyPr>
          <a:lstStyle/>
          <a:p>
            <a:pPr algn="l">
              <a:lnSpc>
                <a:spcPts val="2940"/>
              </a:lnSpc>
            </a:pPr>
            <a:r>
              <a:rPr lang="en-US" sz="2100" b="true">
                <a:solidFill>
                  <a:srgbClr val="00694C"/>
                </a:solidFill>
                <a:latin typeface="Cy Grotesk V3 Key Bold"/>
                <a:ea typeface="Cy Grotesk V3 Key Bold"/>
                <a:cs typeface="Cy Grotesk V3 Key Bold"/>
                <a:sym typeface="Cy Grotesk V3 Key Bold"/>
              </a:rPr>
              <a:t>Learn</a:t>
            </a:r>
          </a:p>
          <a:p>
            <a:pPr algn="l">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New Skills</a:t>
            </a:r>
          </a:p>
        </p:txBody>
      </p:sp>
      <p:sp>
        <p:nvSpPr>
          <p:cNvPr name="TextBox 46" id="46"/>
          <p:cNvSpPr txBox="true"/>
          <p:nvPr/>
        </p:nvSpPr>
        <p:spPr>
          <a:xfrm rot="0">
            <a:off x="13176062" y="8006974"/>
            <a:ext cx="3065504" cy="411975"/>
          </a:xfrm>
          <a:prstGeom prst="rect">
            <a:avLst/>
          </a:prstGeom>
        </p:spPr>
        <p:txBody>
          <a:bodyPr anchor="t" rtlCol="false" tIns="0" lIns="0" bIns="0" rIns="0">
            <a:spAutoFit/>
          </a:bodyPr>
          <a:lstStyle/>
          <a:p>
            <a:pPr algn="ctr">
              <a:lnSpc>
                <a:spcPts val="3344"/>
              </a:lnSpc>
              <a:spcBef>
                <a:spcPct val="0"/>
              </a:spcBef>
            </a:pPr>
            <a:r>
              <a:rPr lang="en-US" b="true" sz="2388">
                <a:solidFill>
                  <a:srgbClr val="00694C"/>
                </a:solidFill>
                <a:latin typeface="Arimo Bold"/>
                <a:ea typeface="Arimo Bold"/>
                <a:cs typeface="Arimo Bold"/>
                <a:sym typeface="Arimo Bold"/>
              </a:rPr>
              <a:t>Practical Experience</a:t>
            </a:r>
          </a:p>
        </p:txBody>
      </p:sp>
      <p:sp>
        <p:nvSpPr>
          <p:cNvPr name="TextBox 47" id="47"/>
          <p:cNvSpPr txBox="true"/>
          <p:nvPr/>
        </p:nvSpPr>
        <p:spPr>
          <a:xfrm rot="0">
            <a:off x="12448588" y="8467946"/>
            <a:ext cx="4163079" cy="773396"/>
          </a:xfrm>
          <a:prstGeom prst="rect">
            <a:avLst/>
          </a:prstGeom>
        </p:spPr>
        <p:txBody>
          <a:bodyPr anchor="t" rtlCol="false" tIns="0" lIns="0" bIns="0" rIns="0">
            <a:spAutoFit/>
          </a:bodyPr>
          <a:lstStyle/>
          <a:p>
            <a:pPr algn="ctr">
              <a:lnSpc>
                <a:spcPts val="3053"/>
              </a:lnSpc>
              <a:spcBef>
                <a:spcPct val="0"/>
              </a:spcBef>
            </a:pPr>
            <a:r>
              <a:rPr lang="en-US" b="true" sz="2181">
                <a:solidFill>
                  <a:srgbClr val="00694C"/>
                </a:solidFill>
                <a:latin typeface="Arimo Bold"/>
                <a:ea typeface="Arimo Bold"/>
                <a:cs typeface="Arimo Bold"/>
                <a:sym typeface="Arimo Bold"/>
              </a:rPr>
              <a:t>Turning knowledge into real projects and applications.</a:t>
            </a:r>
          </a:p>
        </p:txBody>
      </p:sp>
      <p:sp>
        <p:nvSpPr>
          <p:cNvPr name="TextBox 48" id="48"/>
          <p:cNvSpPr txBox="true"/>
          <p:nvPr/>
        </p:nvSpPr>
        <p:spPr>
          <a:xfrm rot="0">
            <a:off x="1953198" y="8029730"/>
            <a:ext cx="2848297" cy="395859"/>
          </a:xfrm>
          <a:prstGeom prst="rect">
            <a:avLst/>
          </a:prstGeom>
        </p:spPr>
        <p:txBody>
          <a:bodyPr anchor="t" rtlCol="false" tIns="0" lIns="0" bIns="0" rIns="0">
            <a:spAutoFit/>
          </a:bodyPr>
          <a:lstStyle/>
          <a:p>
            <a:pPr algn="ctr">
              <a:lnSpc>
                <a:spcPts val="3192"/>
              </a:lnSpc>
              <a:spcBef>
                <a:spcPct val="0"/>
              </a:spcBef>
            </a:pPr>
            <a:r>
              <a:rPr lang="en-US" b="true" sz="2280">
                <a:solidFill>
                  <a:srgbClr val="00694C"/>
                </a:solidFill>
                <a:latin typeface="Arimo Bold"/>
                <a:ea typeface="Arimo Bold"/>
                <a:cs typeface="Arimo Bold"/>
                <a:sym typeface="Arimo Bold"/>
              </a:rPr>
              <a:t>Academic Education</a:t>
            </a:r>
          </a:p>
        </p:txBody>
      </p:sp>
      <p:sp>
        <p:nvSpPr>
          <p:cNvPr name="TextBox 49" id="49"/>
          <p:cNvSpPr txBox="true"/>
          <p:nvPr/>
        </p:nvSpPr>
        <p:spPr>
          <a:xfrm rot="0">
            <a:off x="1570733" y="8529613"/>
            <a:ext cx="3613226" cy="740864"/>
          </a:xfrm>
          <a:prstGeom prst="rect">
            <a:avLst/>
          </a:prstGeom>
        </p:spPr>
        <p:txBody>
          <a:bodyPr anchor="t" rtlCol="false" tIns="0" lIns="0" bIns="0" rIns="0">
            <a:spAutoFit/>
          </a:bodyPr>
          <a:lstStyle/>
          <a:p>
            <a:pPr algn="ctr">
              <a:lnSpc>
                <a:spcPts val="2914"/>
              </a:lnSpc>
            </a:pPr>
            <a:r>
              <a:rPr lang="en-US" sz="2082" b="true">
                <a:solidFill>
                  <a:srgbClr val="00694C"/>
                </a:solidFill>
                <a:latin typeface="Arimo Bold"/>
                <a:ea typeface="Arimo Bold"/>
                <a:cs typeface="Arimo Bold"/>
                <a:sym typeface="Arimo Bold"/>
              </a:rPr>
              <a:t>Building a srtong foundation</a:t>
            </a:r>
          </a:p>
          <a:p>
            <a:pPr algn="ctr">
              <a:lnSpc>
                <a:spcPts val="2914"/>
              </a:lnSpc>
              <a:spcBef>
                <a:spcPct val="0"/>
              </a:spcBef>
            </a:pPr>
            <a:r>
              <a:rPr lang="en-US" b="true" sz="2082">
                <a:solidFill>
                  <a:srgbClr val="00694C"/>
                </a:solidFill>
                <a:latin typeface="Arimo Bold"/>
                <a:ea typeface="Arimo Bold"/>
                <a:cs typeface="Arimo Bold"/>
                <a:sym typeface="Arimo Bold"/>
              </a:rPr>
              <a:t>in my field of study.</a:t>
            </a:r>
          </a:p>
        </p:txBody>
      </p:sp>
      <p:sp>
        <p:nvSpPr>
          <p:cNvPr name="TextBox 50" id="50"/>
          <p:cNvSpPr txBox="true"/>
          <p:nvPr/>
        </p:nvSpPr>
        <p:spPr>
          <a:xfrm rot="0">
            <a:off x="1229941" y="9071533"/>
            <a:ext cx="509768" cy="873246"/>
          </a:xfrm>
          <a:prstGeom prst="rect">
            <a:avLst/>
          </a:prstGeom>
        </p:spPr>
        <p:txBody>
          <a:bodyPr anchor="t" rtlCol="false" tIns="0" lIns="0" bIns="0" rIns="0">
            <a:spAutoFit/>
          </a:bodyPr>
          <a:lstStyle/>
          <a:p>
            <a:pPr algn="ctr">
              <a:lnSpc>
                <a:spcPts val="7176"/>
              </a:lnSpc>
              <a:spcBef>
                <a:spcPct val="0"/>
              </a:spcBef>
            </a:pPr>
            <a:r>
              <a:rPr lang="en-US" b="true" sz="5126">
                <a:solidFill>
                  <a:srgbClr val="00694C"/>
                </a:solidFill>
                <a:latin typeface="Cy Grotesk V3 Key Bold"/>
                <a:ea typeface="Cy Grotesk V3 Key Bold"/>
                <a:cs typeface="Cy Grotesk V3 Key Bold"/>
                <a:sym typeface="Cy Grotesk V3 Key Bold"/>
              </a:rPr>
              <a:t>.</a:t>
            </a:r>
          </a:p>
        </p:txBody>
      </p:sp>
      <p:sp>
        <p:nvSpPr>
          <p:cNvPr name="TextBox 51" id="51"/>
          <p:cNvSpPr txBox="true"/>
          <p:nvPr/>
        </p:nvSpPr>
        <p:spPr>
          <a:xfrm rot="0">
            <a:off x="1574391" y="9586625"/>
            <a:ext cx="3686054" cy="292607"/>
          </a:xfrm>
          <a:prstGeom prst="rect">
            <a:avLst/>
          </a:prstGeom>
        </p:spPr>
        <p:txBody>
          <a:bodyPr anchor="t" rtlCol="false" tIns="0" lIns="0" bIns="0" rIns="0">
            <a:spAutoFit/>
          </a:bodyPr>
          <a:lstStyle/>
          <a:p>
            <a:pPr algn="ctr">
              <a:lnSpc>
                <a:spcPts val="2402"/>
              </a:lnSpc>
              <a:spcBef>
                <a:spcPct val="0"/>
              </a:spcBef>
            </a:pPr>
            <a:r>
              <a:rPr lang="en-US" b="true" sz="1716">
                <a:solidFill>
                  <a:srgbClr val="00694C"/>
                </a:solidFill>
                <a:latin typeface="Cy Grotesk V3 Key Bold"/>
                <a:ea typeface="Cy Grotesk V3 Key Bold"/>
                <a:cs typeface="Cy Grotesk V3 Key Bold"/>
                <a:sym typeface="Cy Grotesk V3 Key Bold"/>
              </a:rPr>
              <a:t>Business Information Systems</a:t>
            </a:r>
          </a:p>
        </p:txBody>
      </p:sp>
      <p:grpSp>
        <p:nvGrpSpPr>
          <p:cNvPr name="Group 52" id="52"/>
          <p:cNvGrpSpPr/>
          <p:nvPr/>
        </p:nvGrpSpPr>
        <p:grpSpPr>
          <a:xfrm rot="0">
            <a:off x="6820270" y="9447341"/>
            <a:ext cx="4037973" cy="534107"/>
            <a:chOff x="0" y="0"/>
            <a:chExt cx="1080948" cy="142978"/>
          </a:xfrm>
        </p:grpSpPr>
        <p:sp>
          <p:nvSpPr>
            <p:cNvPr name="Freeform 53" id="53"/>
            <p:cNvSpPr/>
            <p:nvPr/>
          </p:nvSpPr>
          <p:spPr>
            <a:xfrm flipH="false" flipV="false" rot="0">
              <a:off x="0" y="0"/>
              <a:ext cx="1080948" cy="142978"/>
            </a:xfrm>
            <a:custGeom>
              <a:avLst/>
              <a:gdLst/>
              <a:ahLst/>
              <a:cxnLst/>
              <a:rect r="r" b="b" t="t" l="l"/>
              <a:pathLst>
                <a:path h="142978" w="1080948">
                  <a:moveTo>
                    <a:pt x="71489" y="0"/>
                  </a:moveTo>
                  <a:lnTo>
                    <a:pt x="1009459" y="0"/>
                  </a:lnTo>
                  <a:cubicBezTo>
                    <a:pt x="1048941" y="0"/>
                    <a:pt x="1080948" y="32007"/>
                    <a:pt x="1080948" y="71489"/>
                  </a:cubicBezTo>
                  <a:lnTo>
                    <a:pt x="1080948" y="71489"/>
                  </a:lnTo>
                  <a:cubicBezTo>
                    <a:pt x="1080948" y="90449"/>
                    <a:pt x="1073416" y="108633"/>
                    <a:pt x="1060010" y="122039"/>
                  </a:cubicBezTo>
                  <a:cubicBezTo>
                    <a:pt x="1046603" y="135446"/>
                    <a:pt x="1028419" y="142978"/>
                    <a:pt x="1009459" y="142978"/>
                  </a:cubicBezTo>
                  <a:lnTo>
                    <a:pt x="71489" y="142978"/>
                  </a:lnTo>
                  <a:cubicBezTo>
                    <a:pt x="32007" y="142978"/>
                    <a:pt x="0" y="110971"/>
                    <a:pt x="0" y="71489"/>
                  </a:cubicBezTo>
                  <a:lnTo>
                    <a:pt x="0" y="71489"/>
                  </a:lnTo>
                  <a:cubicBezTo>
                    <a:pt x="0" y="32007"/>
                    <a:pt x="32007" y="0"/>
                    <a:pt x="71489" y="0"/>
                  </a:cubicBezTo>
                  <a:close/>
                </a:path>
              </a:pathLst>
            </a:custGeom>
            <a:solidFill>
              <a:srgbClr val="6C9E8F"/>
            </a:solidFill>
          </p:spPr>
        </p:sp>
        <p:sp>
          <p:nvSpPr>
            <p:cNvPr name="TextBox 54" id="54"/>
            <p:cNvSpPr txBox="true"/>
            <p:nvPr/>
          </p:nvSpPr>
          <p:spPr>
            <a:xfrm>
              <a:off x="0" y="-47625"/>
              <a:ext cx="1080948" cy="190603"/>
            </a:xfrm>
            <a:prstGeom prst="rect">
              <a:avLst/>
            </a:prstGeom>
          </p:spPr>
          <p:txBody>
            <a:bodyPr anchor="ctr" rtlCol="false" tIns="50800" lIns="50800" bIns="50800" rIns="50800"/>
            <a:lstStyle/>
            <a:p>
              <a:pPr algn="ctr">
                <a:lnSpc>
                  <a:spcPts val="2940"/>
                </a:lnSpc>
              </a:pPr>
            </a:p>
          </p:txBody>
        </p:sp>
      </p:grpSp>
      <p:sp>
        <p:nvSpPr>
          <p:cNvPr name="TextBox 55" id="55"/>
          <p:cNvSpPr txBox="true"/>
          <p:nvPr/>
        </p:nvSpPr>
        <p:spPr>
          <a:xfrm rot="0">
            <a:off x="6842920" y="9067205"/>
            <a:ext cx="405158" cy="862956"/>
          </a:xfrm>
          <a:prstGeom prst="rect">
            <a:avLst/>
          </a:prstGeom>
        </p:spPr>
        <p:txBody>
          <a:bodyPr anchor="t" rtlCol="false" tIns="0" lIns="0" bIns="0" rIns="0">
            <a:spAutoFit/>
          </a:bodyPr>
          <a:lstStyle/>
          <a:p>
            <a:pPr algn="ctr">
              <a:lnSpc>
                <a:spcPts val="6993"/>
              </a:lnSpc>
              <a:spcBef>
                <a:spcPct val="0"/>
              </a:spcBef>
            </a:pPr>
            <a:r>
              <a:rPr lang="en-US" b="true" sz="4995">
                <a:solidFill>
                  <a:srgbClr val="00694C"/>
                </a:solidFill>
                <a:latin typeface="Cy Grotesk V3 Key Bold"/>
                <a:ea typeface="Cy Grotesk V3 Key Bold"/>
                <a:cs typeface="Cy Grotesk V3 Key Bold"/>
                <a:sym typeface="Cy Grotesk V3 Key Bold"/>
              </a:rPr>
              <a:t>.</a:t>
            </a:r>
          </a:p>
        </p:txBody>
      </p:sp>
      <p:sp>
        <p:nvSpPr>
          <p:cNvPr name="TextBox 56" id="56"/>
          <p:cNvSpPr txBox="true"/>
          <p:nvPr/>
        </p:nvSpPr>
        <p:spPr>
          <a:xfrm rot="0">
            <a:off x="7078131" y="9523651"/>
            <a:ext cx="1937008" cy="328137"/>
          </a:xfrm>
          <a:prstGeom prst="rect">
            <a:avLst/>
          </a:prstGeom>
        </p:spPr>
        <p:txBody>
          <a:bodyPr anchor="t" rtlCol="false" tIns="0" lIns="0" bIns="0" rIns="0">
            <a:spAutoFit/>
          </a:bodyPr>
          <a:lstStyle/>
          <a:p>
            <a:pPr algn="ctr">
              <a:lnSpc>
                <a:spcPts val="2617"/>
              </a:lnSpc>
              <a:spcBef>
                <a:spcPct val="0"/>
              </a:spcBef>
            </a:pPr>
            <a:r>
              <a:rPr lang="en-US" b="true" sz="1869">
                <a:solidFill>
                  <a:srgbClr val="00694C"/>
                </a:solidFill>
                <a:latin typeface="Cy Grotesk V3 Key Bold"/>
                <a:ea typeface="Cy Grotesk V3 Key Bold"/>
                <a:cs typeface="Cy Grotesk V3 Key Bold"/>
                <a:sym typeface="Cy Grotesk V3 Key Bold"/>
              </a:rPr>
              <a:t>Programming</a:t>
            </a:r>
          </a:p>
        </p:txBody>
      </p:sp>
      <p:sp>
        <p:nvSpPr>
          <p:cNvPr name="TextBox 57" id="57"/>
          <p:cNvSpPr txBox="true"/>
          <p:nvPr/>
        </p:nvSpPr>
        <p:spPr>
          <a:xfrm rot="0">
            <a:off x="8834446" y="9067205"/>
            <a:ext cx="447574" cy="862956"/>
          </a:xfrm>
          <a:prstGeom prst="rect">
            <a:avLst/>
          </a:prstGeom>
        </p:spPr>
        <p:txBody>
          <a:bodyPr anchor="t" rtlCol="false" tIns="0" lIns="0" bIns="0" rIns="0">
            <a:spAutoFit/>
          </a:bodyPr>
          <a:lstStyle/>
          <a:p>
            <a:pPr algn="ctr">
              <a:lnSpc>
                <a:spcPts val="6993"/>
              </a:lnSpc>
              <a:spcBef>
                <a:spcPct val="0"/>
              </a:spcBef>
            </a:pPr>
            <a:r>
              <a:rPr lang="en-US" b="true" sz="4995">
                <a:solidFill>
                  <a:srgbClr val="00694C"/>
                </a:solidFill>
                <a:latin typeface="Cy Grotesk V3 Key Bold"/>
                <a:ea typeface="Cy Grotesk V3 Key Bold"/>
                <a:cs typeface="Cy Grotesk V3 Key Bold"/>
                <a:sym typeface="Cy Grotesk V3 Key Bold"/>
              </a:rPr>
              <a:t>.</a:t>
            </a:r>
          </a:p>
        </p:txBody>
      </p:sp>
      <p:sp>
        <p:nvSpPr>
          <p:cNvPr name="TextBox 58" id="58"/>
          <p:cNvSpPr txBox="true"/>
          <p:nvPr/>
        </p:nvSpPr>
        <p:spPr>
          <a:xfrm rot="0">
            <a:off x="9074771" y="9539895"/>
            <a:ext cx="955688" cy="328137"/>
          </a:xfrm>
          <a:prstGeom prst="rect">
            <a:avLst/>
          </a:prstGeom>
        </p:spPr>
        <p:txBody>
          <a:bodyPr anchor="t" rtlCol="false" tIns="0" lIns="0" bIns="0" rIns="0">
            <a:spAutoFit/>
          </a:bodyPr>
          <a:lstStyle/>
          <a:p>
            <a:pPr algn="ctr">
              <a:lnSpc>
                <a:spcPts val="2617"/>
              </a:lnSpc>
              <a:spcBef>
                <a:spcPct val="0"/>
              </a:spcBef>
            </a:pPr>
            <a:r>
              <a:rPr lang="en-US" b="true" sz="1869">
                <a:solidFill>
                  <a:srgbClr val="00694C"/>
                </a:solidFill>
                <a:latin typeface="Cy Grotesk V3 Key Bold"/>
                <a:ea typeface="Cy Grotesk V3 Key Bold"/>
                <a:cs typeface="Cy Grotesk V3 Key Bold"/>
                <a:sym typeface="Cy Grotesk V3 Key Bold"/>
              </a:rPr>
              <a:t>Data</a:t>
            </a:r>
          </a:p>
        </p:txBody>
      </p:sp>
      <p:sp>
        <p:nvSpPr>
          <p:cNvPr name="TextBox 59" id="59"/>
          <p:cNvSpPr txBox="true"/>
          <p:nvPr/>
        </p:nvSpPr>
        <p:spPr>
          <a:xfrm rot="0">
            <a:off x="9850173" y="9067205"/>
            <a:ext cx="447574" cy="862956"/>
          </a:xfrm>
          <a:prstGeom prst="rect">
            <a:avLst/>
          </a:prstGeom>
        </p:spPr>
        <p:txBody>
          <a:bodyPr anchor="t" rtlCol="false" tIns="0" lIns="0" bIns="0" rIns="0">
            <a:spAutoFit/>
          </a:bodyPr>
          <a:lstStyle/>
          <a:p>
            <a:pPr algn="ctr">
              <a:lnSpc>
                <a:spcPts val="6993"/>
              </a:lnSpc>
              <a:spcBef>
                <a:spcPct val="0"/>
              </a:spcBef>
            </a:pPr>
            <a:r>
              <a:rPr lang="en-US" b="true" sz="4995">
                <a:solidFill>
                  <a:srgbClr val="00694C"/>
                </a:solidFill>
                <a:latin typeface="Cy Grotesk V3 Key Bold"/>
                <a:ea typeface="Cy Grotesk V3 Key Bold"/>
                <a:cs typeface="Cy Grotesk V3 Key Bold"/>
                <a:sym typeface="Cy Grotesk V3 Key Bold"/>
              </a:rPr>
              <a:t>.</a:t>
            </a:r>
          </a:p>
        </p:txBody>
      </p:sp>
      <p:sp>
        <p:nvSpPr>
          <p:cNvPr name="TextBox 60" id="60"/>
          <p:cNvSpPr txBox="true"/>
          <p:nvPr/>
        </p:nvSpPr>
        <p:spPr>
          <a:xfrm rot="0">
            <a:off x="9914146" y="9556138"/>
            <a:ext cx="955688" cy="328137"/>
          </a:xfrm>
          <a:prstGeom prst="rect">
            <a:avLst/>
          </a:prstGeom>
        </p:spPr>
        <p:txBody>
          <a:bodyPr anchor="t" rtlCol="false" tIns="0" lIns="0" bIns="0" rIns="0">
            <a:spAutoFit/>
          </a:bodyPr>
          <a:lstStyle/>
          <a:p>
            <a:pPr algn="ctr">
              <a:lnSpc>
                <a:spcPts val="2617"/>
              </a:lnSpc>
              <a:spcBef>
                <a:spcPct val="0"/>
              </a:spcBef>
            </a:pPr>
            <a:r>
              <a:rPr lang="en-US" b="true" sz="1869">
                <a:solidFill>
                  <a:srgbClr val="00694C"/>
                </a:solidFill>
                <a:latin typeface="Cy Grotesk V3 Key Bold"/>
                <a:ea typeface="Cy Grotesk V3 Key Bold"/>
                <a:cs typeface="Cy Grotesk V3 Key Bold"/>
                <a:sym typeface="Cy Grotesk V3 Key Bold"/>
              </a:rPr>
              <a:t>AI</a:t>
            </a:r>
          </a:p>
        </p:txBody>
      </p:sp>
      <p:grpSp>
        <p:nvGrpSpPr>
          <p:cNvPr name="Group 61" id="61"/>
          <p:cNvGrpSpPr/>
          <p:nvPr/>
        </p:nvGrpSpPr>
        <p:grpSpPr>
          <a:xfrm rot="0">
            <a:off x="12314528" y="9428837"/>
            <a:ext cx="4262751" cy="563838"/>
            <a:chOff x="0" y="0"/>
            <a:chExt cx="1080948" cy="142978"/>
          </a:xfrm>
        </p:grpSpPr>
        <p:sp>
          <p:nvSpPr>
            <p:cNvPr name="Freeform 62" id="62"/>
            <p:cNvSpPr/>
            <p:nvPr/>
          </p:nvSpPr>
          <p:spPr>
            <a:xfrm flipH="false" flipV="false" rot="0">
              <a:off x="0" y="0"/>
              <a:ext cx="1080948" cy="142978"/>
            </a:xfrm>
            <a:custGeom>
              <a:avLst/>
              <a:gdLst/>
              <a:ahLst/>
              <a:cxnLst/>
              <a:rect r="r" b="b" t="t" l="l"/>
              <a:pathLst>
                <a:path h="142978" w="1080948">
                  <a:moveTo>
                    <a:pt x="71489" y="0"/>
                  </a:moveTo>
                  <a:lnTo>
                    <a:pt x="1009459" y="0"/>
                  </a:lnTo>
                  <a:cubicBezTo>
                    <a:pt x="1048941" y="0"/>
                    <a:pt x="1080948" y="32007"/>
                    <a:pt x="1080948" y="71489"/>
                  </a:cubicBezTo>
                  <a:lnTo>
                    <a:pt x="1080948" y="71489"/>
                  </a:lnTo>
                  <a:cubicBezTo>
                    <a:pt x="1080948" y="90449"/>
                    <a:pt x="1073416" y="108633"/>
                    <a:pt x="1060010" y="122039"/>
                  </a:cubicBezTo>
                  <a:cubicBezTo>
                    <a:pt x="1046603" y="135446"/>
                    <a:pt x="1028419" y="142978"/>
                    <a:pt x="1009459" y="142978"/>
                  </a:cubicBezTo>
                  <a:lnTo>
                    <a:pt x="71489" y="142978"/>
                  </a:lnTo>
                  <a:cubicBezTo>
                    <a:pt x="32007" y="142978"/>
                    <a:pt x="0" y="110971"/>
                    <a:pt x="0" y="71489"/>
                  </a:cubicBezTo>
                  <a:lnTo>
                    <a:pt x="0" y="71489"/>
                  </a:lnTo>
                  <a:cubicBezTo>
                    <a:pt x="0" y="32007"/>
                    <a:pt x="32007" y="0"/>
                    <a:pt x="71489" y="0"/>
                  </a:cubicBezTo>
                  <a:close/>
                </a:path>
              </a:pathLst>
            </a:custGeom>
            <a:solidFill>
              <a:srgbClr val="6C9E8F"/>
            </a:solidFill>
          </p:spPr>
        </p:sp>
        <p:sp>
          <p:nvSpPr>
            <p:cNvPr name="TextBox 63" id="63"/>
            <p:cNvSpPr txBox="true"/>
            <p:nvPr/>
          </p:nvSpPr>
          <p:spPr>
            <a:xfrm>
              <a:off x="0" y="-47625"/>
              <a:ext cx="1080948" cy="190603"/>
            </a:xfrm>
            <a:prstGeom prst="rect">
              <a:avLst/>
            </a:prstGeom>
          </p:spPr>
          <p:txBody>
            <a:bodyPr anchor="ctr" rtlCol="false" tIns="50800" lIns="50800" bIns="50800" rIns="50800"/>
            <a:lstStyle/>
            <a:p>
              <a:pPr algn="ctr">
                <a:lnSpc>
                  <a:spcPts val="2940"/>
                </a:lnSpc>
              </a:pPr>
            </a:p>
          </p:txBody>
        </p:sp>
      </p:grpSp>
      <p:sp>
        <p:nvSpPr>
          <p:cNvPr name="TextBox 64" id="64"/>
          <p:cNvSpPr txBox="true"/>
          <p:nvPr/>
        </p:nvSpPr>
        <p:spPr>
          <a:xfrm rot="0">
            <a:off x="12338439" y="9033373"/>
            <a:ext cx="427711" cy="905160"/>
          </a:xfrm>
          <a:prstGeom prst="rect">
            <a:avLst/>
          </a:prstGeom>
        </p:spPr>
        <p:txBody>
          <a:bodyPr anchor="t" rtlCol="false" tIns="0" lIns="0" bIns="0" rIns="0">
            <a:spAutoFit/>
          </a:bodyPr>
          <a:lstStyle/>
          <a:p>
            <a:pPr algn="ctr">
              <a:lnSpc>
                <a:spcPts val="7383"/>
              </a:lnSpc>
              <a:spcBef>
                <a:spcPct val="0"/>
              </a:spcBef>
            </a:pPr>
            <a:r>
              <a:rPr lang="en-US" b="true" sz="5273">
                <a:solidFill>
                  <a:srgbClr val="00694C"/>
                </a:solidFill>
                <a:latin typeface="Cy Grotesk V3 Key Bold"/>
                <a:ea typeface="Cy Grotesk V3 Key Bold"/>
                <a:cs typeface="Cy Grotesk V3 Key Bold"/>
                <a:sym typeface="Cy Grotesk V3 Key Bold"/>
              </a:rPr>
              <a:t>.</a:t>
            </a:r>
          </a:p>
        </p:txBody>
      </p:sp>
      <p:sp>
        <p:nvSpPr>
          <p:cNvPr name="TextBox 65" id="65"/>
          <p:cNvSpPr txBox="true"/>
          <p:nvPr/>
        </p:nvSpPr>
        <p:spPr>
          <a:xfrm rot="0">
            <a:off x="12586743" y="9512046"/>
            <a:ext cx="2044833" cy="343752"/>
          </a:xfrm>
          <a:prstGeom prst="rect">
            <a:avLst/>
          </a:prstGeom>
        </p:spPr>
        <p:txBody>
          <a:bodyPr anchor="t" rtlCol="false" tIns="0" lIns="0" bIns="0" rIns="0">
            <a:spAutoFit/>
          </a:bodyPr>
          <a:lstStyle/>
          <a:p>
            <a:pPr algn="ctr">
              <a:lnSpc>
                <a:spcPts val="2762"/>
              </a:lnSpc>
              <a:spcBef>
                <a:spcPct val="0"/>
              </a:spcBef>
            </a:pPr>
            <a:r>
              <a:rPr lang="en-US" b="true" sz="1973">
                <a:solidFill>
                  <a:srgbClr val="00694C"/>
                </a:solidFill>
                <a:latin typeface="Cy Grotesk V3 Key Bold"/>
                <a:ea typeface="Cy Grotesk V3 Key Bold"/>
                <a:cs typeface="Cy Grotesk V3 Key Bold"/>
                <a:sym typeface="Cy Grotesk V3 Key Bold"/>
              </a:rPr>
              <a:t>Programming</a:t>
            </a:r>
          </a:p>
        </p:txBody>
      </p:sp>
      <p:sp>
        <p:nvSpPr>
          <p:cNvPr name="TextBox 66" id="66"/>
          <p:cNvSpPr txBox="true"/>
          <p:nvPr/>
        </p:nvSpPr>
        <p:spPr>
          <a:xfrm rot="0">
            <a:off x="14440825" y="9033373"/>
            <a:ext cx="472488" cy="905160"/>
          </a:xfrm>
          <a:prstGeom prst="rect">
            <a:avLst/>
          </a:prstGeom>
        </p:spPr>
        <p:txBody>
          <a:bodyPr anchor="t" rtlCol="false" tIns="0" lIns="0" bIns="0" rIns="0">
            <a:spAutoFit/>
          </a:bodyPr>
          <a:lstStyle/>
          <a:p>
            <a:pPr algn="ctr">
              <a:lnSpc>
                <a:spcPts val="7383"/>
              </a:lnSpc>
              <a:spcBef>
                <a:spcPct val="0"/>
              </a:spcBef>
            </a:pPr>
            <a:r>
              <a:rPr lang="en-US" b="true" sz="5273">
                <a:solidFill>
                  <a:srgbClr val="00694C"/>
                </a:solidFill>
                <a:latin typeface="Cy Grotesk V3 Key Bold"/>
                <a:ea typeface="Cy Grotesk V3 Key Bold"/>
                <a:cs typeface="Cy Grotesk V3 Key Bold"/>
                <a:sym typeface="Cy Grotesk V3 Key Bold"/>
              </a:rPr>
              <a:t>.</a:t>
            </a:r>
          </a:p>
        </p:txBody>
      </p:sp>
      <p:sp>
        <p:nvSpPr>
          <p:cNvPr name="TextBox 67" id="67"/>
          <p:cNvSpPr txBox="true"/>
          <p:nvPr/>
        </p:nvSpPr>
        <p:spPr>
          <a:xfrm rot="0">
            <a:off x="14694528" y="9529194"/>
            <a:ext cx="1008888" cy="343752"/>
          </a:xfrm>
          <a:prstGeom prst="rect">
            <a:avLst/>
          </a:prstGeom>
        </p:spPr>
        <p:txBody>
          <a:bodyPr anchor="t" rtlCol="false" tIns="0" lIns="0" bIns="0" rIns="0">
            <a:spAutoFit/>
          </a:bodyPr>
          <a:lstStyle/>
          <a:p>
            <a:pPr algn="ctr">
              <a:lnSpc>
                <a:spcPts val="2762"/>
              </a:lnSpc>
              <a:spcBef>
                <a:spcPct val="0"/>
              </a:spcBef>
            </a:pPr>
            <a:r>
              <a:rPr lang="en-US" b="true" sz="1973">
                <a:solidFill>
                  <a:srgbClr val="00694C"/>
                </a:solidFill>
                <a:latin typeface="Cy Grotesk V3 Key Bold"/>
                <a:ea typeface="Cy Grotesk V3 Key Bold"/>
                <a:cs typeface="Cy Grotesk V3 Key Bold"/>
                <a:sym typeface="Cy Grotesk V3 Key Bold"/>
              </a:rPr>
              <a:t>Data</a:t>
            </a:r>
          </a:p>
        </p:txBody>
      </p:sp>
      <p:sp>
        <p:nvSpPr>
          <p:cNvPr name="TextBox 68" id="68"/>
          <p:cNvSpPr txBox="true"/>
          <p:nvPr/>
        </p:nvSpPr>
        <p:spPr>
          <a:xfrm rot="0">
            <a:off x="15513093" y="9033373"/>
            <a:ext cx="472488" cy="905160"/>
          </a:xfrm>
          <a:prstGeom prst="rect">
            <a:avLst/>
          </a:prstGeom>
        </p:spPr>
        <p:txBody>
          <a:bodyPr anchor="t" rtlCol="false" tIns="0" lIns="0" bIns="0" rIns="0">
            <a:spAutoFit/>
          </a:bodyPr>
          <a:lstStyle/>
          <a:p>
            <a:pPr algn="ctr">
              <a:lnSpc>
                <a:spcPts val="7383"/>
              </a:lnSpc>
              <a:spcBef>
                <a:spcPct val="0"/>
              </a:spcBef>
            </a:pPr>
            <a:r>
              <a:rPr lang="en-US" b="true" sz="5273">
                <a:solidFill>
                  <a:srgbClr val="00694C"/>
                </a:solidFill>
                <a:latin typeface="Cy Grotesk V3 Key Bold"/>
                <a:ea typeface="Cy Grotesk V3 Key Bold"/>
                <a:cs typeface="Cy Grotesk V3 Key Bold"/>
                <a:sym typeface="Cy Grotesk V3 Key Bold"/>
              </a:rPr>
              <a:t>.</a:t>
            </a:r>
          </a:p>
        </p:txBody>
      </p:sp>
      <p:sp>
        <p:nvSpPr>
          <p:cNvPr name="TextBox 69" id="69"/>
          <p:cNvSpPr txBox="true"/>
          <p:nvPr/>
        </p:nvSpPr>
        <p:spPr>
          <a:xfrm rot="0">
            <a:off x="15580628" y="9546342"/>
            <a:ext cx="1008888" cy="343752"/>
          </a:xfrm>
          <a:prstGeom prst="rect">
            <a:avLst/>
          </a:prstGeom>
        </p:spPr>
        <p:txBody>
          <a:bodyPr anchor="t" rtlCol="false" tIns="0" lIns="0" bIns="0" rIns="0">
            <a:spAutoFit/>
          </a:bodyPr>
          <a:lstStyle/>
          <a:p>
            <a:pPr algn="ctr">
              <a:lnSpc>
                <a:spcPts val="2762"/>
              </a:lnSpc>
              <a:spcBef>
                <a:spcPct val="0"/>
              </a:spcBef>
            </a:pPr>
            <a:r>
              <a:rPr lang="en-US" b="true" sz="1973">
                <a:solidFill>
                  <a:srgbClr val="00694C"/>
                </a:solidFill>
                <a:latin typeface="Cy Grotesk V3 Key Bold"/>
                <a:ea typeface="Cy Grotesk V3 Key Bold"/>
                <a:cs typeface="Cy Grotesk V3 Key Bold"/>
                <a:sym typeface="Cy Grotesk V3 Key Bold"/>
              </a:rPr>
              <a:t>AI</a:t>
            </a:r>
          </a:p>
        </p:txBody>
      </p:sp>
      <p:grpSp>
        <p:nvGrpSpPr>
          <p:cNvPr name="Group 70" id="70"/>
          <p:cNvGrpSpPr/>
          <p:nvPr/>
        </p:nvGrpSpPr>
        <p:grpSpPr>
          <a:xfrm rot="0">
            <a:off x="5026651" y="91536"/>
            <a:ext cx="1526299" cy="1478823"/>
            <a:chOff x="0" y="0"/>
            <a:chExt cx="838894" cy="812800"/>
          </a:xfrm>
        </p:grpSpPr>
        <p:sp>
          <p:nvSpPr>
            <p:cNvPr name="Freeform 71" id="71"/>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D4F6EC"/>
            </a:solidFill>
          </p:spPr>
        </p:sp>
        <p:sp>
          <p:nvSpPr>
            <p:cNvPr name="TextBox 72" id="72"/>
            <p:cNvSpPr txBox="true"/>
            <p:nvPr/>
          </p:nvSpPr>
          <p:spPr>
            <a:xfrm>
              <a:off x="78646" y="28575"/>
              <a:ext cx="681601" cy="708025"/>
            </a:xfrm>
            <a:prstGeom prst="rect">
              <a:avLst/>
            </a:prstGeom>
          </p:spPr>
          <p:txBody>
            <a:bodyPr anchor="ctr" rtlCol="false" tIns="50800" lIns="50800" bIns="50800" rIns="50800"/>
            <a:lstStyle/>
            <a:p>
              <a:pPr algn="ctr">
                <a:lnSpc>
                  <a:spcPts val="2940"/>
                </a:lnSpc>
              </a:pPr>
            </a:p>
          </p:txBody>
        </p:sp>
      </p:grpSp>
      <p:sp>
        <p:nvSpPr>
          <p:cNvPr name="TextBox 73" id="73"/>
          <p:cNvSpPr txBox="true"/>
          <p:nvPr/>
        </p:nvSpPr>
        <p:spPr>
          <a:xfrm rot="0">
            <a:off x="11709838" y="621167"/>
            <a:ext cx="197472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Contact</a:t>
            </a:r>
          </a:p>
        </p:txBody>
      </p:sp>
      <p:sp>
        <p:nvSpPr>
          <p:cNvPr name="TextBox 74" id="74"/>
          <p:cNvSpPr txBox="true"/>
          <p:nvPr/>
        </p:nvSpPr>
        <p:spPr>
          <a:xfrm rot="0">
            <a:off x="9025805" y="613059"/>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Feedback</a:t>
            </a:r>
          </a:p>
        </p:txBody>
      </p:sp>
      <p:sp>
        <p:nvSpPr>
          <p:cNvPr name="TextBox 75" id="75"/>
          <p:cNvSpPr txBox="true"/>
          <p:nvPr/>
        </p:nvSpPr>
        <p:spPr>
          <a:xfrm rot="0">
            <a:off x="2254455" y="593200"/>
            <a:ext cx="235525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About </a:t>
            </a:r>
          </a:p>
        </p:txBody>
      </p:sp>
      <p:sp>
        <p:nvSpPr>
          <p:cNvPr name="TextBox 76" id="76"/>
          <p:cNvSpPr txBox="true"/>
          <p:nvPr/>
        </p:nvSpPr>
        <p:spPr>
          <a:xfrm rot="0">
            <a:off x="6969891" y="593200"/>
            <a:ext cx="205591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Projects </a:t>
            </a:r>
          </a:p>
        </p:txBody>
      </p:sp>
      <p:sp>
        <p:nvSpPr>
          <p:cNvPr name="TextBox 77" id="77"/>
          <p:cNvSpPr txBox="true"/>
          <p:nvPr/>
        </p:nvSpPr>
        <p:spPr>
          <a:xfrm rot="0">
            <a:off x="4609709" y="593200"/>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Education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BFC"/>
        </a:solidFill>
      </p:bgPr>
    </p:bg>
    <p:spTree>
      <p:nvGrpSpPr>
        <p:cNvPr id="1" name=""/>
        <p:cNvGrpSpPr/>
        <p:nvPr/>
      </p:nvGrpSpPr>
      <p:grpSpPr>
        <a:xfrm>
          <a:off x="0" y="0"/>
          <a:ext cx="0" cy="0"/>
          <a:chOff x="0" y="0"/>
          <a:chExt cx="0" cy="0"/>
        </a:xfrm>
      </p:grpSpPr>
      <p:sp>
        <p:nvSpPr>
          <p:cNvPr name="Freeform 2" id="2"/>
          <p:cNvSpPr/>
          <p:nvPr/>
        </p:nvSpPr>
        <p:spPr>
          <a:xfrm flipH="true" flipV="false" rot="0">
            <a:off x="15958683" y="-2383108"/>
            <a:ext cx="4661953" cy="4748285"/>
          </a:xfrm>
          <a:custGeom>
            <a:avLst/>
            <a:gdLst/>
            <a:ahLst/>
            <a:cxnLst/>
            <a:rect r="r" b="b" t="t" l="l"/>
            <a:pathLst>
              <a:path h="4748285" w="4661953">
                <a:moveTo>
                  <a:pt x="4661953" y="0"/>
                </a:moveTo>
                <a:lnTo>
                  <a:pt x="0" y="0"/>
                </a:lnTo>
                <a:lnTo>
                  <a:pt x="0" y="4748285"/>
                </a:lnTo>
                <a:lnTo>
                  <a:pt x="4661953" y="4748285"/>
                </a:lnTo>
                <a:lnTo>
                  <a:pt x="466195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633054" y="1000733"/>
            <a:ext cx="7608980" cy="4280051"/>
          </a:xfrm>
          <a:custGeom>
            <a:avLst/>
            <a:gdLst/>
            <a:ahLst/>
            <a:cxnLst/>
            <a:rect r="r" b="b" t="t" l="l"/>
            <a:pathLst>
              <a:path h="4280051" w="7608980">
                <a:moveTo>
                  <a:pt x="0" y="0"/>
                </a:moveTo>
                <a:lnTo>
                  <a:pt x="7608981" y="0"/>
                </a:lnTo>
                <a:lnTo>
                  <a:pt x="7608981" y="4280051"/>
                </a:lnTo>
                <a:lnTo>
                  <a:pt x="0" y="4280051"/>
                </a:lnTo>
                <a:lnTo>
                  <a:pt x="0" y="0"/>
                </a:lnTo>
                <a:close/>
              </a:path>
            </a:pathLst>
          </a:custGeom>
          <a:blipFill>
            <a:blip r:embed="rId4"/>
            <a:stretch>
              <a:fillRect l="0" t="0" r="0" b="0"/>
            </a:stretch>
          </a:blipFill>
        </p:spPr>
      </p:sp>
      <p:sp>
        <p:nvSpPr>
          <p:cNvPr name="TextBox 4" id="4"/>
          <p:cNvSpPr txBox="true"/>
          <p:nvPr/>
        </p:nvSpPr>
        <p:spPr>
          <a:xfrm rot="0">
            <a:off x="782759" y="1630367"/>
            <a:ext cx="2360182" cy="375285"/>
          </a:xfrm>
          <a:prstGeom prst="rect">
            <a:avLst/>
          </a:prstGeom>
        </p:spPr>
        <p:txBody>
          <a:bodyPr anchor="t" rtlCol="false" tIns="0" lIns="0" bIns="0" rIns="0">
            <a:spAutoFit/>
          </a:bodyPr>
          <a:lstStyle/>
          <a:p>
            <a:pPr algn="ctr">
              <a:lnSpc>
                <a:spcPts val="2940"/>
              </a:lnSpc>
              <a:spcBef>
                <a:spcPct val="0"/>
              </a:spcBef>
            </a:pPr>
            <a:r>
              <a:rPr lang="en-US" sz="2100">
                <a:solidFill>
                  <a:srgbClr val="00694C"/>
                </a:solidFill>
                <a:latin typeface="Brick Sans"/>
                <a:ea typeface="Brick Sans"/>
                <a:cs typeface="Brick Sans"/>
                <a:sym typeface="Brick Sans"/>
              </a:rPr>
              <a:t>projects</a:t>
            </a:r>
          </a:p>
        </p:txBody>
      </p:sp>
      <p:sp>
        <p:nvSpPr>
          <p:cNvPr name="AutoShape 5" id="5"/>
          <p:cNvSpPr/>
          <p:nvPr/>
        </p:nvSpPr>
        <p:spPr>
          <a:xfrm flipV="true">
            <a:off x="2964998" y="1903734"/>
            <a:ext cx="859749" cy="0"/>
          </a:xfrm>
          <a:prstGeom prst="line">
            <a:avLst/>
          </a:prstGeom>
          <a:ln cap="flat" w="38100">
            <a:solidFill>
              <a:srgbClr val="346551"/>
            </a:solidFill>
            <a:prstDash val="lgDash"/>
            <a:headEnd type="none" len="sm" w="sm"/>
            <a:tailEnd type="none" len="sm" w="sm"/>
          </a:ln>
        </p:spPr>
      </p:sp>
      <p:grpSp>
        <p:nvGrpSpPr>
          <p:cNvPr name="Group 6" id="6"/>
          <p:cNvGrpSpPr/>
          <p:nvPr/>
        </p:nvGrpSpPr>
        <p:grpSpPr>
          <a:xfrm rot="0">
            <a:off x="445904" y="6129144"/>
            <a:ext cx="8218050" cy="3483353"/>
            <a:chOff x="0" y="0"/>
            <a:chExt cx="136249877" cy="57751712"/>
          </a:xfrm>
        </p:grpSpPr>
        <p:sp>
          <p:nvSpPr>
            <p:cNvPr name="Freeform 7" id="7"/>
            <p:cNvSpPr/>
            <p:nvPr/>
          </p:nvSpPr>
          <p:spPr>
            <a:xfrm flipH="false" flipV="false" rot="0">
              <a:off x="0" y="0"/>
              <a:ext cx="136249879" cy="57751712"/>
            </a:xfrm>
            <a:custGeom>
              <a:avLst/>
              <a:gdLst/>
              <a:ahLst/>
              <a:cxnLst/>
              <a:rect r="r" b="b" t="t" l="l"/>
              <a:pathLst>
                <a:path h="57751712" w="136249879">
                  <a:moveTo>
                    <a:pt x="32972" y="0"/>
                  </a:moveTo>
                  <a:lnTo>
                    <a:pt x="136216901" y="0"/>
                  </a:lnTo>
                  <a:cubicBezTo>
                    <a:pt x="136235120" y="0"/>
                    <a:pt x="136249879" y="14762"/>
                    <a:pt x="136249879" y="32972"/>
                  </a:cubicBezTo>
                  <a:lnTo>
                    <a:pt x="136249879" y="57718740"/>
                  </a:lnTo>
                  <a:cubicBezTo>
                    <a:pt x="136249879" y="57736947"/>
                    <a:pt x="136235120" y="57751712"/>
                    <a:pt x="136216901" y="57751712"/>
                  </a:cubicBezTo>
                  <a:lnTo>
                    <a:pt x="32972" y="57751712"/>
                  </a:lnTo>
                  <a:cubicBezTo>
                    <a:pt x="14762" y="57751712"/>
                    <a:pt x="0" y="57736947"/>
                    <a:pt x="0" y="57718740"/>
                  </a:cubicBezTo>
                  <a:lnTo>
                    <a:pt x="0" y="32972"/>
                  </a:lnTo>
                  <a:cubicBezTo>
                    <a:pt x="0" y="14762"/>
                    <a:pt x="14762" y="0"/>
                    <a:pt x="32972" y="0"/>
                  </a:cubicBezTo>
                  <a:close/>
                </a:path>
              </a:pathLst>
            </a:custGeom>
            <a:blipFill>
              <a:blip r:embed="rId5"/>
              <a:stretch>
                <a:fillRect l="0" t="-6179" r="0" b="-6179"/>
              </a:stretch>
            </a:blipFill>
            <a:ln w="38100" cap="rnd">
              <a:solidFill>
                <a:srgbClr val="00694C"/>
              </a:solidFill>
              <a:prstDash val="solid"/>
              <a:round/>
            </a:ln>
          </p:spPr>
        </p:sp>
      </p:grpSp>
      <p:grpSp>
        <p:nvGrpSpPr>
          <p:cNvPr name="Group 8" id="8"/>
          <p:cNvGrpSpPr/>
          <p:nvPr/>
        </p:nvGrpSpPr>
        <p:grpSpPr>
          <a:xfrm rot="0">
            <a:off x="9144000" y="6129144"/>
            <a:ext cx="8544506" cy="3483353"/>
            <a:chOff x="0" y="0"/>
            <a:chExt cx="145826236" cy="59449226"/>
          </a:xfrm>
        </p:grpSpPr>
        <p:sp>
          <p:nvSpPr>
            <p:cNvPr name="Freeform 9" id="9"/>
            <p:cNvSpPr/>
            <p:nvPr/>
          </p:nvSpPr>
          <p:spPr>
            <a:xfrm flipH="false" flipV="false" rot="0">
              <a:off x="0" y="0"/>
              <a:ext cx="145826237" cy="59449227"/>
            </a:xfrm>
            <a:custGeom>
              <a:avLst/>
              <a:gdLst/>
              <a:ahLst/>
              <a:cxnLst/>
              <a:rect r="r" b="b" t="t" l="l"/>
              <a:pathLst>
                <a:path h="59449227" w="145826237">
                  <a:moveTo>
                    <a:pt x="31712" y="0"/>
                  </a:moveTo>
                  <a:lnTo>
                    <a:pt x="145794524" y="0"/>
                  </a:lnTo>
                  <a:cubicBezTo>
                    <a:pt x="145802933" y="0"/>
                    <a:pt x="145811007" y="3341"/>
                    <a:pt x="145816948" y="9288"/>
                  </a:cubicBezTo>
                  <a:cubicBezTo>
                    <a:pt x="145822901" y="15236"/>
                    <a:pt x="145826237" y="23302"/>
                    <a:pt x="145826237" y="31712"/>
                  </a:cubicBezTo>
                  <a:lnTo>
                    <a:pt x="145826237" y="59417514"/>
                  </a:lnTo>
                  <a:cubicBezTo>
                    <a:pt x="145826237" y="59425923"/>
                    <a:pt x="145822901" y="59433991"/>
                    <a:pt x="145816948" y="59439938"/>
                  </a:cubicBezTo>
                  <a:cubicBezTo>
                    <a:pt x="145811007" y="59445885"/>
                    <a:pt x="145802933" y="59449227"/>
                    <a:pt x="145794524" y="59449227"/>
                  </a:cubicBezTo>
                  <a:lnTo>
                    <a:pt x="31712" y="59449227"/>
                  </a:lnTo>
                  <a:cubicBezTo>
                    <a:pt x="23302" y="59449227"/>
                    <a:pt x="15236" y="59445885"/>
                    <a:pt x="9288" y="59439938"/>
                  </a:cubicBezTo>
                  <a:cubicBezTo>
                    <a:pt x="3341" y="59433991"/>
                    <a:pt x="0" y="59425923"/>
                    <a:pt x="0" y="59417514"/>
                  </a:cubicBezTo>
                  <a:lnTo>
                    <a:pt x="0" y="31712"/>
                  </a:lnTo>
                  <a:cubicBezTo>
                    <a:pt x="0" y="23302"/>
                    <a:pt x="3341" y="15236"/>
                    <a:pt x="9288" y="9288"/>
                  </a:cubicBezTo>
                  <a:cubicBezTo>
                    <a:pt x="15236" y="3341"/>
                    <a:pt x="23302" y="0"/>
                    <a:pt x="31712" y="0"/>
                  </a:cubicBezTo>
                  <a:close/>
                </a:path>
              </a:pathLst>
            </a:custGeom>
            <a:blipFill>
              <a:blip r:embed="rId6"/>
              <a:stretch>
                <a:fillRect l="0" t="-8640" r="0" b="-8640"/>
              </a:stretch>
            </a:blipFill>
            <a:ln w="38100" cap="rnd">
              <a:solidFill>
                <a:srgbClr val="00694C"/>
              </a:solidFill>
              <a:prstDash val="solid"/>
              <a:round/>
            </a:ln>
          </p:spPr>
        </p:sp>
      </p:grpSp>
      <p:sp>
        <p:nvSpPr>
          <p:cNvPr name="TextBox 10" id="10"/>
          <p:cNvSpPr txBox="true"/>
          <p:nvPr/>
        </p:nvSpPr>
        <p:spPr>
          <a:xfrm rot="0">
            <a:off x="445904" y="2208627"/>
            <a:ext cx="9626916" cy="2585042"/>
          </a:xfrm>
          <a:prstGeom prst="rect">
            <a:avLst/>
          </a:prstGeom>
        </p:spPr>
        <p:txBody>
          <a:bodyPr anchor="t" rtlCol="false" tIns="0" lIns="0" bIns="0" rIns="0">
            <a:spAutoFit/>
          </a:bodyPr>
          <a:lstStyle/>
          <a:p>
            <a:pPr algn="ctr" marL="0" indent="0" lvl="1">
              <a:lnSpc>
                <a:spcPts val="10121"/>
              </a:lnSpc>
            </a:pPr>
            <a:r>
              <a:rPr lang="en-US" sz="9458" spc="-435">
                <a:solidFill>
                  <a:srgbClr val="000000"/>
                </a:solidFill>
                <a:latin typeface="Fredoka"/>
                <a:ea typeface="Fredoka"/>
                <a:cs typeface="Fredoka"/>
                <a:sym typeface="Fredoka"/>
              </a:rPr>
              <a:t>Turning Ideas Into</a:t>
            </a:r>
            <a:r>
              <a:rPr lang="en-US" sz="9458" spc="-435">
                <a:solidFill>
                  <a:srgbClr val="00694C"/>
                </a:solidFill>
                <a:latin typeface="Fredoka"/>
                <a:ea typeface="Fredoka"/>
                <a:cs typeface="Fredoka"/>
                <a:sym typeface="Fredoka"/>
              </a:rPr>
              <a:t> Real Projects</a:t>
            </a:r>
          </a:p>
        </p:txBody>
      </p:sp>
      <p:sp>
        <p:nvSpPr>
          <p:cNvPr name="TextBox 11" id="11"/>
          <p:cNvSpPr txBox="true"/>
          <p:nvPr/>
        </p:nvSpPr>
        <p:spPr>
          <a:xfrm rot="0">
            <a:off x="924274" y="4870574"/>
            <a:ext cx="8927118" cy="772795"/>
          </a:xfrm>
          <a:prstGeom prst="rect">
            <a:avLst/>
          </a:prstGeom>
        </p:spPr>
        <p:txBody>
          <a:bodyPr anchor="t" rtlCol="false" tIns="0" lIns="0" bIns="0" rIns="0">
            <a:spAutoFit/>
          </a:bodyPr>
          <a:lstStyle/>
          <a:p>
            <a:pPr algn="ctr">
              <a:lnSpc>
                <a:spcPts val="3080"/>
              </a:lnSpc>
              <a:spcBef>
                <a:spcPct val="0"/>
              </a:spcBef>
            </a:pPr>
            <a:r>
              <a:rPr lang="en-US" b="true" sz="2200">
                <a:solidFill>
                  <a:srgbClr val="00694C"/>
                </a:solidFill>
                <a:latin typeface="Raleway Semi-Bold"/>
                <a:ea typeface="Raleway Semi-Bold"/>
                <a:cs typeface="Raleway Semi-Bold"/>
                <a:sym typeface="Raleway Semi-Bold"/>
              </a:rPr>
              <a:t>I build practical applications and experiment with modern technologies to turn ideas into useful solutions.</a:t>
            </a:r>
          </a:p>
        </p:txBody>
      </p:sp>
      <p:grpSp>
        <p:nvGrpSpPr>
          <p:cNvPr name="Group 12" id="12"/>
          <p:cNvGrpSpPr/>
          <p:nvPr/>
        </p:nvGrpSpPr>
        <p:grpSpPr>
          <a:xfrm rot="0">
            <a:off x="7234699" y="60481"/>
            <a:ext cx="1526299" cy="1478823"/>
            <a:chOff x="0" y="0"/>
            <a:chExt cx="838894" cy="812800"/>
          </a:xfrm>
        </p:grpSpPr>
        <p:sp>
          <p:nvSpPr>
            <p:cNvPr name="Freeform 13" id="13"/>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D4F6EC"/>
            </a:solidFill>
          </p:spPr>
        </p:sp>
        <p:sp>
          <p:nvSpPr>
            <p:cNvPr name="TextBox 14" id="14"/>
            <p:cNvSpPr txBox="true"/>
            <p:nvPr/>
          </p:nvSpPr>
          <p:spPr>
            <a:xfrm>
              <a:off x="78646" y="28575"/>
              <a:ext cx="681601" cy="708025"/>
            </a:xfrm>
            <a:prstGeom prst="rect">
              <a:avLst/>
            </a:prstGeom>
          </p:spPr>
          <p:txBody>
            <a:bodyPr anchor="ctr" rtlCol="false" tIns="50800" lIns="50800" bIns="50800" rIns="50800"/>
            <a:lstStyle/>
            <a:p>
              <a:pPr algn="ctr">
                <a:lnSpc>
                  <a:spcPts val="2940"/>
                </a:lnSpc>
              </a:pPr>
            </a:p>
          </p:txBody>
        </p:sp>
      </p:grpSp>
      <p:sp>
        <p:nvSpPr>
          <p:cNvPr name="TextBox 15" id="15"/>
          <p:cNvSpPr txBox="true"/>
          <p:nvPr/>
        </p:nvSpPr>
        <p:spPr>
          <a:xfrm rot="0">
            <a:off x="11709838" y="621167"/>
            <a:ext cx="197472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Contact</a:t>
            </a:r>
          </a:p>
        </p:txBody>
      </p:sp>
      <p:sp>
        <p:nvSpPr>
          <p:cNvPr name="TextBox 16" id="16"/>
          <p:cNvSpPr txBox="true"/>
          <p:nvPr/>
        </p:nvSpPr>
        <p:spPr>
          <a:xfrm rot="0">
            <a:off x="9025805" y="613059"/>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Feedback</a:t>
            </a:r>
          </a:p>
        </p:txBody>
      </p:sp>
      <p:sp>
        <p:nvSpPr>
          <p:cNvPr name="TextBox 17" id="17"/>
          <p:cNvSpPr txBox="true"/>
          <p:nvPr/>
        </p:nvSpPr>
        <p:spPr>
          <a:xfrm rot="0">
            <a:off x="2254455" y="593200"/>
            <a:ext cx="235525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About </a:t>
            </a:r>
          </a:p>
        </p:txBody>
      </p:sp>
      <p:sp>
        <p:nvSpPr>
          <p:cNvPr name="TextBox 18" id="18"/>
          <p:cNvSpPr txBox="true"/>
          <p:nvPr/>
        </p:nvSpPr>
        <p:spPr>
          <a:xfrm rot="0">
            <a:off x="6969891" y="593200"/>
            <a:ext cx="205591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Projects </a:t>
            </a:r>
          </a:p>
        </p:txBody>
      </p:sp>
      <p:sp>
        <p:nvSpPr>
          <p:cNvPr name="TextBox 19" id="19"/>
          <p:cNvSpPr txBox="true"/>
          <p:nvPr/>
        </p:nvSpPr>
        <p:spPr>
          <a:xfrm rot="0">
            <a:off x="4609709" y="593200"/>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Education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BFC"/>
        </a:solidFill>
      </p:bgPr>
    </p:bg>
    <p:spTree>
      <p:nvGrpSpPr>
        <p:cNvPr id="1" name=""/>
        <p:cNvGrpSpPr/>
        <p:nvPr/>
      </p:nvGrpSpPr>
      <p:grpSpPr>
        <a:xfrm>
          <a:off x="0" y="0"/>
          <a:ext cx="0" cy="0"/>
          <a:chOff x="0" y="0"/>
          <a:chExt cx="0" cy="0"/>
        </a:xfrm>
      </p:grpSpPr>
      <p:grpSp>
        <p:nvGrpSpPr>
          <p:cNvPr name="Group 2" id="2"/>
          <p:cNvGrpSpPr/>
          <p:nvPr/>
        </p:nvGrpSpPr>
        <p:grpSpPr>
          <a:xfrm rot="0">
            <a:off x="983066" y="4380260"/>
            <a:ext cx="5293498" cy="5559439"/>
            <a:chOff x="0" y="0"/>
            <a:chExt cx="1394172" cy="1464214"/>
          </a:xfrm>
        </p:grpSpPr>
        <p:sp>
          <p:nvSpPr>
            <p:cNvPr name="Freeform 3" id="3"/>
            <p:cNvSpPr/>
            <p:nvPr/>
          </p:nvSpPr>
          <p:spPr>
            <a:xfrm flipH="false" flipV="false" rot="0">
              <a:off x="0" y="0"/>
              <a:ext cx="1394172" cy="1464214"/>
            </a:xfrm>
            <a:custGeom>
              <a:avLst/>
              <a:gdLst/>
              <a:ahLst/>
              <a:cxnLst/>
              <a:rect r="r" b="b" t="t" l="l"/>
              <a:pathLst>
                <a:path h="1464214" w="1394172">
                  <a:moveTo>
                    <a:pt x="51189" y="0"/>
                  </a:moveTo>
                  <a:lnTo>
                    <a:pt x="1342984" y="0"/>
                  </a:lnTo>
                  <a:cubicBezTo>
                    <a:pt x="1356560" y="0"/>
                    <a:pt x="1369580" y="5393"/>
                    <a:pt x="1379179" y="14993"/>
                  </a:cubicBezTo>
                  <a:cubicBezTo>
                    <a:pt x="1388779" y="24593"/>
                    <a:pt x="1394172" y="37613"/>
                    <a:pt x="1394172" y="51189"/>
                  </a:cubicBezTo>
                  <a:lnTo>
                    <a:pt x="1394172" y="1413026"/>
                  </a:lnTo>
                  <a:cubicBezTo>
                    <a:pt x="1394172" y="1426602"/>
                    <a:pt x="1388779" y="1439622"/>
                    <a:pt x="1379179" y="1449222"/>
                  </a:cubicBezTo>
                  <a:cubicBezTo>
                    <a:pt x="1369580" y="1458821"/>
                    <a:pt x="1356560" y="1464214"/>
                    <a:pt x="1342984" y="1464214"/>
                  </a:cubicBezTo>
                  <a:lnTo>
                    <a:pt x="51189" y="1464214"/>
                  </a:lnTo>
                  <a:cubicBezTo>
                    <a:pt x="37613" y="1464214"/>
                    <a:pt x="24593" y="1458821"/>
                    <a:pt x="14993" y="1449222"/>
                  </a:cubicBezTo>
                  <a:cubicBezTo>
                    <a:pt x="5393" y="1439622"/>
                    <a:pt x="0" y="1426602"/>
                    <a:pt x="0" y="1413026"/>
                  </a:cubicBezTo>
                  <a:lnTo>
                    <a:pt x="0" y="51189"/>
                  </a:lnTo>
                  <a:cubicBezTo>
                    <a:pt x="0" y="37613"/>
                    <a:pt x="5393" y="24593"/>
                    <a:pt x="14993" y="14993"/>
                  </a:cubicBezTo>
                  <a:cubicBezTo>
                    <a:pt x="24593" y="5393"/>
                    <a:pt x="37613" y="0"/>
                    <a:pt x="51189" y="0"/>
                  </a:cubicBezTo>
                  <a:close/>
                </a:path>
              </a:pathLst>
            </a:custGeom>
            <a:solidFill>
              <a:srgbClr val="20B48C">
                <a:alpha val="392"/>
              </a:srgbClr>
            </a:solidFill>
            <a:ln cap="rnd">
              <a:noFill/>
              <a:prstDash val="solid"/>
              <a:round/>
            </a:ln>
          </p:spPr>
        </p:sp>
        <p:sp>
          <p:nvSpPr>
            <p:cNvPr name="TextBox 4" id="4"/>
            <p:cNvSpPr txBox="true"/>
            <p:nvPr/>
          </p:nvSpPr>
          <p:spPr>
            <a:xfrm>
              <a:off x="0" y="-38100"/>
              <a:ext cx="1394172" cy="1502314"/>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011437" y="4380260"/>
            <a:ext cx="5293498" cy="5559439"/>
            <a:chOff x="0" y="0"/>
            <a:chExt cx="1394172" cy="1464214"/>
          </a:xfrm>
        </p:grpSpPr>
        <p:sp>
          <p:nvSpPr>
            <p:cNvPr name="Freeform 6" id="6"/>
            <p:cNvSpPr/>
            <p:nvPr/>
          </p:nvSpPr>
          <p:spPr>
            <a:xfrm flipH="false" flipV="false" rot="0">
              <a:off x="0" y="0"/>
              <a:ext cx="1394172" cy="1464214"/>
            </a:xfrm>
            <a:custGeom>
              <a:avLst/>
              <a:gdLst/>
              <a:ahLst/>
              <a:cxnLst/>
              <a:rect r="r" b="b" t="t" l="l"/>
              <a:pathLst>
                <a:path h="1464214" w="1394172">
                  <a:moveTo>
                    <a:pt x="49726" y="0"/>
                  </a:moveTo>
                  <a:lnTo>
                    <a:pt x="1344446" y="0"/>
                  </a:lnTo>
                  <a:cubicBezTo>
                    <a:pt x="1371909" y="0"/>
                    <a:pt x="1394172" y="22263"/>
                    <a:pt x="1394172" y="49726"/>
                  </a:cubicBezTo>
                  <a:lnTo>
                    <a:pt x="1394172" y="1414488"/>
                  </a:lnTo>
                  <a:cubicBezTo>
                    <a:pt x="1394172" y="1441951"/>
                    <a:pt x="1371909" y="1464214"/>
                    <a:pt x="1344446" y="1464214"/>
                  </a:cubicBezTo>
                  <a:lnTo>
                    <a:pt x="49726" y="1464214"/>
                  </a:lnTo>
                  <a:cubicBezTo>
                    <a:pt x="22263" y="1464214"/>
                    <a:pt x="0" y="1441951"/>
                    <a:pt x="0" y="1414488"/>
                  </a:cubicBezTo>
                  <a:lnTo>
                    <a:pt x="0" y="49726"/>
                  </a:lnTo>
                  <a:cubicBezTo>
                    <a:pt x="0" y="22263"/>
                    <a:pt x="22263" y="0"/>
                    <a:pt x="49726" y="0"/>
                  </a:cubicBezTo>
                  <a:close/>
                </a:path>
              </a:pathLst>
            </a:custGeom>
            <a:solidFill>
              <a:srgbClr val="7158E6">
                <a:alpha val="784"/>
              </a:srgbClr>
            </a:solidFill>
          </p:spPr>
        </p:sp>
        <p:sp>
          <p:nvSpPr>
            <p:cNvPr name="TextBox 7" id="7"/>
            <p:cNvSpPr txBox="true"/>
            <p:nvPr/>
          </p:nvSpPr>
          <p:spPr>
            <a:xfrm>
              <a:off x="0" y="-38100"/>
              <a:ext cx="1394172" cy="150231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9442747" y="78382"/>
            <a:ext cx="1526299" cy="1478823"/>
            <a:chOff x="0" y="0"/>
            <a:chExt cx="838894" cy="812800"/>
          </a:xfrm>
        </p:grpSpPr>
        <p:sp>
          <p:nvSpPr>
            <p:cNvPr name="Freeform 9" id="9"/>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D4F6EC"/>
            </a:solidFill>
          </p:spPr>
        </p:sp>
        <p:sp>
          <p:nvSpPr>
            <p:cNvPr name="TextBox 10" id="10"/>
            <p:cNvSpPr txBox="true"/>
            <p:nvPr/>
          </p:nvSpPr>
          <p:spPr>
            <a:xfrm>
              <a:off x="78646" y="28575"/>
              <a:ext cx="681601" cy="708025"/>
            </a:xfrm>
            <a:prstGeom prst="rect">
              <a:avLst/>
            </a:prstGeom>
          </p:spPr>
          <p:txBody>
            <a:bodyPr anchor="ctr" rtlCol="false" tIns="50800" lIns="50800" bIns="50800" rIns="50800"/>
            <a:lstStyle/>
            <a:p>
              <a:pPr algn="ctr">
                <a:lnSpc>
                  <a:spcPts val="2940"/>
                </a:lnSpc>
              </a:pPr>
            </a:p>
          </p:txBody>
        </p:sp>
      </p:grpSp>
      <p:grpSp>
        <p:nvGrpSpPr>
          <p:cNvPr name="Group 11" id="11"/>
          <p:cNvGrpSpPr/>
          <p:nvPr/>
        </p:nvGrpSpPr>
        <p:grpSpPr>
          <a:xfrm rot="0">
            <a:off x="1142403" y="4629169"/>
            <a:ext cx="1732723" cy="173272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62" r="0" b="-62"/>
              </a:stretch>
            </a:blipFill>
          </p:spPr>
        </p:sp>
      </p:grpSp>
      <p:grpSp>
        <p:nvGrpSpPr>
          <p:cNvPr name="Group 13" id="13"/>
          <p:cNvGrpSpPr/>
          <p:nvPr/>
        </p:nvGrpSpPr>
        <p:grpSpPr>
          <a:xfrm rot="0">
            <a:off x="6542885" y="4380260"/>
            <a:ext cx="5293498" cy="5559439"/>
            <a:chOff x="0" y="0"/>
            <a:chExt cx="1394172" cy="1464214"/>
          </a:xfrm>
        </p:grpSpPr>
        <p:sp>
          <p:nvSpPr>
            <p:cNvPr name="Freeform 14" id="14"/>
            <p:cNvSpPr/>
            <p:nvPr/>
          </p:nvSpPr>
          <p:spPr>
            <a:xfrm flipH="false" flipV="false" rot="0">
              <a:off x="0" y="0"/>
              <a:ext cx="1394172" cy="1464214"/>
            </a:xfrm>
            <a:custGeom>
              <a:avLst/>
              <a:gdLst/>
              <a:ahLst/>
              <a:cxnLst/>
              <a:rect r="r" b="b" t="t" l="l"/>
              <a:pathLst>
                <a:path h="1464214" w="1394172">
                  <a:moveTo>
                    <a:pt x="51189" y="0"/>
                  </a:moveTo>
                  <a:lnTo>
                    <a:pt x="1342984" y="0"/>
                  </a:lnTo>
                  <a:cubicBezTo>
                    <a:pt x="1356560" y="0"/>
                    <a:pt x="1369580" y="5393"/>
                    <a:pt x="1379179" y="14993"/>
                  </a:cubicBezTo>
                  <a:cubicBezTo>
                    <a:pt x="1388779" y="24593"/>
                    <a:pt x="1394172" y="37613"/>
                    <a:pt x="1394172" y="51189"/>
                  </a:cubicBezTo>
                  <a:lnTo>
                    <a:pt x="1394172" y="1413026"/>
                  </a:lnTo>
                  <a:cubicBezTo>
                    <a:pt x="1394172" y="1426602"/>
                    <a:pt x="1388779" y="1439622"/>
                    <a:pt x="1379179" y="1449222"/>
                  </a:cubicBezTo>
                  <a:cubicBezTo>
                    <a:pt x="1369580" y="1458821"/>
                    <a:pt x="1356560" y="1464214"/>
                    <a:pt x="1342984" y="1464214"/>
                  </a:cubicBezTo>
                  <a:lnTo>
                    <a:pt x="51189" y="1464214"/>
                  </a:lnTo>
                  <a:cubicBezTo>
                    <a:pt x="37613" y="1464214"/>
                    <a:pt x="24593" y="1458821"/>
                    <a:pt x="14993" y="1449222"/>
                  </a:cubicBezTo>
                  <a:cubicBezTo>
                    <a:pt x="5393" y="1439622"/>
                    <a:pt x="0" y="1426602"/>
                    <a:pt x="0" y="1413026"/>
                  </a:cubicBezTo>
                  <a:lnTo>
                    <a:pt x="0" y="51189"/>
                  </a:lnTo>
                  <a:cubicBezTo>
                    <a:pt x="0" y="37613"/>
                    <a:pt x="5393" y="24593"/>
                    <a:pt x="14993" y="14993"/>
                  </a:cubicBezTo>
                  <a:cubicBezTo>
                    <a:pt x="24593" y="5393"/>
                    <a:pt x="37613" y="0"/>
                    <a:pt x="51189" y="0"/>
                  </a:cubicBezTo>
                  <a:close/>
                </a:path>
              </a:pathLst>
            </a:custGeom>
            <a:solidFill>
              <a:srgbClr val="0097B2">
                <a:alpha val="1176"/>
              </a:srgbClr>
            </a:solidFill>
            <a:ln cap="rnd">
              <a:noFill/>
              <a:prstDash val="solid"/>
              <a:round/>
            </a:ln>
          </p:spPr>
        </p:sp>
        <p:sp>
          <p:nvSpPr>
            <p:cNvPr name="TextBox 15" id="15"/>
            <p:cNvSpPr txBox="true"/>
            <p:nvPr/>
          </p:nvSpPr>
          <p:spPr>
            <a:xfrm>
              <a:off x="0" y="-38100"/>
              <a:ext cx="1394172" cy="1502314"/>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2217383" y="4629169"/>
            <a:ext cx="1732723" cy="1732723"/>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437" r="0" b="-437"/>
              </a:stretch>
            </a:blipFill>
          </p:spPr>
        </p:sp>
      </p:grpSp>
      <p:grpSp>
        <p:nvGrpSpPr>
          <p:cNvPr name="Group 18" id="18"/>
          <p:cNvGrpSpPr/>
          <p:nvPr/>
        </p:nvGrpSpPr>
        <p:grpSpPr>
          <a:xfrm rot="0">
            <a:off x="6749384" y="4629169"/>
            <a:ext cx="1732723" cy="173272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759" r="0" b="-759"/>
              </a:stretch>
            </a:blipFill>
          </p:spPr>
        </p:sp>
      </p:grpSp>
      <p:sp>
        <p:nvSpPr>
          <p:cNvPr name="AutoShape 20" id="20"/>
          <p:cNvSpPr/>
          <p:nvPr/>
        </p:nvSpPr>
        <p:spPr>
          <a:xfrm>
            <a:off x="1504594" y="8839000"/>
            <a:ext cx="859749" cy="0"/>
          </a:xfrm>
          <a:prstGeom prst="line">
            <a:avLst/>
          </a:prstGeom>
          <a:ln cap="flat" w="66675">
            <a:solidFill>
              <a:srgbClr val="3ECDA6"/>
            </a:solidFill>
            <a:prstDash val="solid"/>
            <a:headEnd type="none" len="sm" w="sm"/>
            <a:tailEnd type="none" len="sm" w="sm"/>
          </a:ln>
        </p:spPr>
      </p:sp>
      <p:sp>
        <p:nvSpPr>
          <p:cNvPr name="Freeform 21" id="21"/>
          <p:cNvSpPr/>
          <p:nvPr/>
        </p:nvSpPr>
        <p:spPr>
          <a:xfrm flipH="false" flipV="false" rot="0">
            <a:off x="5324573" y="4629169"/>
            <a:ext cx="837312" cy="544253"/>
          </a:xfrm>
          <a:custGeom>
            <a:avLst/>
            <a:gdLst/>
            <a:ahLst/>
            <a:cxnLst/>
            <a:rect r="r" b="b" t="t" l="l"/>
            <a:pathLst>
              <a:path h="544253" w="837312">
                <a:moveTo>
                  <a:pt x="0" y="0"/>
                </a:moveTo>
                <a:lnTo>
                  <a:pt x="837312" y="0"/>
                </a:lnTo>
                <a:lnTo>
                  <a:pt x="837312" y="544253"/>
                </a:lnTo>
                <a:lnTo>
                  <a:pt x="0" y="5442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10837679" y="4599247"/>
            <a:ext cx="837312" cy="544253"/>
          </a:xfrm>
          <a:custGeom>
            <a:avLst/>
            <a:gdLst/>
            <a:ahLst/>
            <a:cxnLst/>
            <a:rect r="r" b="b" t="t" l="l"/>
            <a:pathLst>
              <a:path h="544253" w="837312">
                <a:moveTo>
                  <a:pt x="0" y="0"/>
                </a:moveTo>
                <a:lnTo>
                  <a:pt x="837312" y="0"/>
                </a:lnTo>
                <a:lnTo>
                  <a:pt x="837312" y="544253"/>
                </a:lnTo>
                <a:lnTo>
                  <a:pt x="0" y="5442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16302781" y="4599247"/>
            <a:ext cx="837312" cy="544253"/>
          </a:xfrm>
          <a:custGeom>
            <a:avLst/>
            <a:gdLst/>
            <a:ahLst/>
            <a:cxnLst/>
            <a:rect r="r" b="b" t="t" l="l"/>
            <a:pathLst>
              <a:path h="544253" w="837312">
                <a:moveTo>
                  <a:pt x="0" y="0"/>
                </a:moveTo>
                <a:lnTo>
                  <a:pt x="837312" y="0"/>
                </a:lnTo>
                <a:lnTo>
                  <a:pt x="837312" y="544253"/>
                </a:lnTo>
                <a:lnTo>
                  <a:pt x="0" y="54425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4" id="24"/>
          <p:cNvSpPr txBox="true"/>
          <p:nvPr/>
        </p:nvSpPr>
        <p:spPr>
          <a:xfrm rot="0">
            <a:off x="12207858" y="6485717"/>
            <a:ext cx="4825675" cy="2357869"/>
          </a:xfrm>
          <a:prstGeom prst="rect">
            <a:avLst/>
          </a:prstGeom>
        </p:spPr>
        <p:txBody>
          <a:bodyPr anchor="t" rtlCol="false" tIns="0" lIns="0" bIns="0" rIns="0">
            <a:spAutoFit/>
          </a:bodyPr>
          <a:lstStyle/>
          <a:p>
            <a:pPr algn="l">
              <a:lnSpc>
                <a:spcPts val="2338"/>
              </a:lnSpc>
              <a:spcBef>
                <a:spcPct val="0"/>
              </a:spcBef>
            </a:pPr>
            <a:r>
              <a:rPr lang="en-US" b="true" sz="1670">
                <a:solidFill>
                  <a:srgbClr val="000000"/>
                </a:solidFill>
                <a:latin typeface="Cy Grotesk V3 Key Bold"/>
                <a:ea typeface="Cy Grotesk V3 Key Bold"/>
                <a:cs typeface="Cy Grotesk V3 Key Bold"/>
                <a:sym typeface="Cy Grotesk V3 Key Bold"/>
              </a:rPr>
              <a:t>"One of the best data analysts I’ve worked with. He goes beyond just presenting charts—he translates complex data into meaningful business insights that are easy to understand and execute. Highly recommended!"</a:t>
            </a:r>
          </a:p>
          <a:p>
            <a:pPr algn="l">
              <a:lnSpc>
                <a:spcPts val="2338"/>
              </a:lnSpc>
              <a:spcBef>
                <a:spcPct val="0"/>
              </a:spcBef>
            </a:pPr>
          </a:p>
          <a:p>
            <a:pPr algn="l">
              <a:lnSpc>
                <a:spcPts val="2338"/>
              </a:lnSpc>
              <a:spcBef>
                <a:spcPct val="0"/>
              </a:spcBef>
            </a:pPr>
          </a:p>
        </p:txBody>
      </p:sp>
      <p:sp>
        <p:nvSpPr>
          <p:cNvPr name="AutoShape 25" id="25"/>
          <p:cNvSpPr/>
          <p:nvPr/>
        </p:nvSpPr>
        <p:spPr>
          <a:xfrm>
            <a:off x="6791570" y="8872338"/>
            <a:ext cx="859749" cy="0"/>
          </a:xfrm>
          <a:prstGeom prst="line">
            <a:avLst/>
          </a:prstGeom>
          <a:ln cap="flat" w="66675">
            <a:solidFill>
              <a:srgbClr val="0097B2"/>
            </a:solidFill>
            <a:prstDash val="solid"/>
            <a:headEnd type="none" len="sm" w="sm"/>
            <a:tailEnd type="none" len="sm" w="sm"/>
          </a:ln>
        </p:spPr>
      </p:sp>
      <p:sp>
        <p:nvSpPr>
          <p:cNvPr name="AutoShape 26" id="26"/>
          <p:cNvSpPr/>
          <p:nvPr/>
        </p:nvSpPr>
        <p:spPr>
          <a:xfrm>
            <a:off x="12355982" y="8832015"/>
            <a:ext cx="859749" cy="0"/>
          </a:xfrm>
          <a:prstGeom prst="line">
            <a:avLst/>
          </a:prstGeom>
          <a:ln cap="flat" w="66675">
            <a:solidFill>
              <a:srgbClr val="7158E6"/>
            </a:solidFill>
            <a:prstDash val="solid"/>
            <a:headEnd type="none" len="sm" w="sm"/>
            <a:tailEnd type="none" len="sm" w="sm"/>
          </a:ln>
        </p:spPr>
      </p:sp>
      <p:sp>
        <p:nvSpPr>
          <p:cNvPr name="AutoShape 27" id="27"/>
          <p:cNvSpPr/>
          <p:nvPr/>
        </p:nvSpPr>
        <p:spPr>
          <a:xfrm>
            <a:off x="6095354" y="1948605"/>
            <a:ext cx="859749" cy="0"/>
          </a:xfrm>
          <a:prstGeom prst="line">
            <a:avLst/>
          </a:prstGeom>
          <a:ln cap="flat" w="66675">
            <a:solidFill>
              <a:srgbClr val="A9DFD0"/>
            </a:solidFill>
            <a:prstDash val="solid"/>
            <a:headEnd type="none" len="sm" w="sm"/>
            <a:tailEnd type="none" len="sm" w="sm"/>
          </a:ln>
        </p:spPr>
      </p:sp>
      <p:sp>
        <p:nvSpPr>
          <p:cNvPr name="AutoShape 28" id="28"/>
          <p:cNvSpPr/>
          <p:nvPr/>
        </p:nvSpPr>
        <p:spPr>
          <a:xfrm>
            <a:off x="10009110" y="1915268"/>
            <a:ext cx="859749" cy="0"/>
          </a:xfrm>
          <a:prstGeom prst="line">
            <a:avLst/>
          </a:prstGeom>
          <a:ln cap="flat" w="66675">
            <a:solidFill>
              <a:srgbClr val="A9DFD0"/>
            </a:solidFill>
            <a:prstDash val="solid"/>
            <a:headEnd type="none" len="sm" w="sm"/>
            <a:tailEnd type="none" len="sm" w="sm"/>
          </a:ln>
        </p:spPr>
      </p:sp>
      <p:sp>
        <p:nvSpPr>
          <p:cNvPr name="Freeform 29" id="29"/>
          <p:cNvSpPr/>
          <p:nvPr/>
        </p:nvSpPr>
        <p:spPr>
          <a:xfrm flipH="false" flipV="false" rot="-10800000">
            <a:off x="14517676" y="1770537"/>
            <a:ext cx="1793945" cy="959761"/>
          </a:xfrm>
          <a:custGeom>
            <a:avLst/>
            <a:gdLst/>
            <a:ahLst/>
            <a:cxnLst/>
            <a:rect r="r" b="b" t="t" l="l"/>
            <a:pathLst>
              <a:path h="959761" w="1793945">
                <a:moveTo>
                  <a:pt x="0" y="0"/>
                </a:moveTo>
                <a:lnTo>
                  <a:pt x="1793946" y="0"/>
                </a:lnTo>
                <a:lnTo>
                  <a:pt x="1793946" y="959761"/>
                </a:lnTo>
                <a:lnTo>
                  <a:pt x="0" y="95976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0" id="30"/>
          <p:cNvSpPr/>
          <p:nvPr/>
        </p:nvSpPr>
        <p:spPr>
          <a:xfrm flipH="false" flipV="false" rot="0">
            <a:off x="16705711" y="3273138"/>
            <a:ext cx="601153" cy="601153"/>
          </a:xfrm>
          <a:custGeom>
            <a:avLst/>
            <a:gdLst/>
            <a:ahLst/>
            <a:cxnLst/>
            <a:rect r="r" b="b" t="t" l="l"/>
            <a:pathLst>
              <a:path h="601153" w="601153">
                <a:moveTo>
                  <a:pt x="0" y="0"/>
                </a:moveTo>
                <a:lnTo>
                  <a:pt x="601152" y="0"/>
                </a:lnTo>
                <a:lnTo>
                  <a:pt x="601152" y="601153"/>
                </a:lnTo>
                <a:lnTo>
                  <a:pt x="0" y="60115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1" id="31"/>
          <p:cNvGrpSpPr/>
          <p:nvPr/>
        </p:nvGrpSpPr>
        <p:grpSpPr>
          <a:xfrm rot="-1104311">
            <a:off x="-1109689" y="2292430"/>
            <a:ext cx="3086100" cy="2121694"/>
            <a:chOff x="0" y="0"/>
            <a:chExt cx="609600" cy="419100"/>
          </a:xfrm>
        </p:grpSpPr>
        <p:sp>
          <p:nvSpPr>
            <p:cNvPr name="Freeform 32" id="32"/>
            <p:cNvSpPr/>
            <p:nvPr/>
          </p:nvSpPr>
          <p:spPr>
            <a:xfrm flipH="false" flipV="false" rot="0">
              <a:off x="0" y="0"/>
              <a:ext cx="609600" cy="419100"/>
            </a:xfrm>
            <a:custGeom>
              <a:avLst/>
              <a:gdLst/>
              <a:ahLst/>
              <a:cxnLst/>
              <a:rect r="r" b="b" t="t" l="l"/>
              <a:pathLst>
                <a:path h="419100" w="609600">
                  <a:moveTo>
                    <a:pt x="47037" y="0"/>
                  </a:moveTo>
                  <a:lnTo>
                    <a:pt x="397565" y="0"/>
                  </a:lnTo>
                  <a:cubicBezTo>
                    <a:pt x="514669" y="0"/>
                    <a:pt x="609600" y="93819"/>
                    <a:pt x="609600" y="209550"/>
                  </a:cubicBezTo>
                  <a:cubicBezTo>
                    <a:pt x="609600" y="325281"/>
                    <a:pt x="514669" y="419100"/>
                    <a:pt x="397565" y="419100"/>
                  </a:cubicBezTo>
                  <a:lnTo>
                    <a:pt x="47037" y="419100"/>
                  </a:lnTo>
                  <a:cubicBezTo>
                    <a:pt x="34562" y="419100"/>
                    <a:pt x="22598" y="414144"/>
                    <a:pt x="13777" y="405323"/>
                  </a:cubicBezTo>
                  <a:cubicBezTo>
                    <a:pt x="4956" y="396502"/>
                    <a:pt x="0" y="384538"/>
                    <a:pt x="0" y="372063"/>
                  </a:cubicBezTo>
                  <a:lnTo>
                    <a:pt x="0" y="47037"/>
                  </a:lnTo>
                  <a:cubicBezTo>
                    <a:pt x="0" y="34562"/>
                    <a:pt x="4956" y="22598"/>
                    <a:pt x="13777" y="13777"/>
                  </a:cubicBezTo>
                  <a:cubicBezTo>
                    <a:pt x="22598" y="4956"/>
                    <a:pt x="34562" y="0"/>
                    <a:pt x="47037" y="0"/>
                  </a:cubicBezTo>
                  <a:close/>
                </a:path>
              </a:pathLst>
            </a:custGeom>
            <a:solidFill>
              <a:srgbClr val="3ECDA6">
                <a:alpha val="6667"/>
              </a:srgbClr>
            </a:solidFill>
          </p:spPr>
        </p:sp>
        <p:sp>
          <p:nvSpPr>
            <p:cNvPr name="TextBox 33" id="33"/>
            <p:cNvSpPr txBox="true"/>
            <p:nvPr/>
          </p:nvSpPr>
          <p:spPr>
            <a:xfrm>
              <a:off x="25400" y="-47625"/>
              <a:ext cx="381000" cy="466725"/>
            </a:xfrm>
            <a:prstGeom prst="rect">
              <a:avLst/>
            </a:prstGeom>
          </p:spPr>
          <p:txBody>
            <a:bodyPr anchor="ctr" rtlCol="false" tIns="50800" lIns="50800" bIns="50800" rIns="50800"/>
            <a:lstStyle/>
            <a:p>
              <a:pPr algn="ctr">
                <a:lnSpc>
                  <a:spcPts val="2940"/>
                </a:lnSpc>
              </a:pPr>
            </a:p>
          </p:txBody>
        </p:sp>
      </p:grpSp>
      <p:sp>
        <p:nvSpPr>
          <p:cNvPr name="TextBox 34" id="34"/>
          <p:cNvSpPr txBox="true"/>
          <p:nvPr/>
        </p:nvSpPr>
        <p:spPr>
          <a:xfrm rot="0">
            <a:off x="11709838" y="621167"/>
            <a:ext cx="197472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Contact</a:t>
            </a:r>
          </a:p>
        </p:txBody>
      </p:sp>
      <p:sp>
        <p:nvSpPr>
          <p:cNvPr name="TextBox 35" id="35"/>
          <p:cNvSpPr txBox="true"/>
          <p:nvPr/>
        </p:nvSpPr>
        <p:spPr>
          <a:xfrm rot="0">
            <a:off x="9025805" y="613059"/>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Feedback</a:t>
            </a:r>
          </a:p>
        </p:txBody>
      </p:sp>
      <p:sp>
        <p:nvSpPr>
          <p:cNvPr name="TextBox 36" id="36"/>
          <p:cNvSpPr txBox="true"/>
          <p:nvPr/>
        </p:nvSpPr>
        <p:spPr>
          <a:xfrm rot="0">
            <a:off x="2254455" y="593200"/>
            <a:ext cx="235525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About </a:t>
            </a:r>
          </a:p>
        </p:txBody>
      </p:sp>
      <p:sp>
        <p:nvSpPr>
          <p:cNvPr name="TextBox 37" id="37"/>
          <p:cNvSpPr txBox="true"/>
          <p:nvPr/>
        </p:nvSpPr>
        <p:spPr>
          <a:xfrm rot="0">
            <a:off x="6969891" y="593200"/>
            <a:ext cx="205591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Projects </a:t>
            </a:r>
          </a:p>
        </p:txBody>
      </p:sp>
      <p:sp>
        <p:nvSpPr>
          <p:cNvPr name="TextBox 38" id="38"/>
          <p:cNvSpPr txBox="true"/>
          <p:nvPr/>
        </p:nvSpPr>
        <p:spPr>
          <a:xfrm rot="0">
            <a:off x="4609709" y="593200"/>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Education </a:t>
            </a:r>
          </a:p>
        </p:txBody>
      </p:sp>
      <p:sp>
        <p:nvSpPr>
          <p:cNvPr name="TextBox 39" id="39"/>
          <p:cNvSpPr txBox="true"/>
          <p:nvPr/>
        </p:nvSpPr>
        <p:spPr>
          <a:xfrm rot="0">
            <a:off x="3025898" y="5288838"/>
            <a:ext cx="183106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Cy Grotesk V3 Key Bold"/>
                <a:ea typeface="Cy Grotesk V3 Key Bold"/>
                <a:cs typeface="Cy Grotesk V3 Key Bold"/>
                <a:sym typeface="Cy Grotesk V3 Key Bold"/>
              </a:rPr>
              <a:t>⭐⭐⭐⭐⭐</a:t>
            </a:r>
          </a:p>
        </p:txBody>
      </p:sp>
      <p:sp>
        <p:nvSpPr>
          <p:cNvPr name="TextBox 40" id="40"/>
          <p:cNvSpPr txBox="true"/>
          <p:nvPr/>
        </p:nvSpPr>
        <p:spPr>
          <a:xfrm rot="0">
            <a:off x="1347360" y="6497112"/>
            <a:ext cx="4825675" cy="2062594"/>
          </a:xfrm>
          <a:prstGeom prst="rect">
            <a:avLst/>
          </a:prstGeom>
        </p:spPr>
        <p:txBody>
          <a:bodyPr anchor="t" rtlCol="false" tIns="0" lIns="0" bIns="0" rIns="0">
            <a:spAutoFit/>
          </a:bodyPr>
          <a:lstStyle/>
          <a:p>
            <a:pPr algn="l">
              <a:lnSpc>
                <a:spcPts val="2338"/>
              </a:lnSpc>
              <a:spcBef>
                <a:spcPct val="0"/>
              </a:spcBef>
            </a:pPr>
            <a:r>
              <a:rPr lang="en-US" b="true" sz="1670">
                <a:solidFill>
                  <a:srgbClr val="000000"/>
                </a:solidFill>
                <a:latin typeface="Cy Grotesk V3 Key Bold"/>
                <a:ea typeface="Cy Grotesk V3 Key Bold"/>
                <a:cs typeface="Cy Grotesk V3 Key Bold"/>
                <a:sym typeface="Cy Grotesk V3 Key Bold"/>
              </a:rPr>
              <a:t>"Exceptional work! He transformed our complex sales data into a clear, interactive Power BI dashboard. It made tracking key performance metrics so much easier and directly helped us boost our sales strategy. Highly professional and punctual!"</a:t>
            </a:r>
          </a:p>
        </p:txBody>
      </p:sp>
      <p:sp>
        <p:nvSpPr>
          <p:cNvPr name="TextBox 41" id="41"/>
          <p:cNvSpPr txBox="true"/>
          <p:nvPr/>
        </p:nvSpPr>
        <p:spPr>
          <a:xfrm rot="0">
            <a:off x="1504594" y="8996163"/>
            <a:ext cx="2125221"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Cy Grotesk V3 Key Bold"/>
                <a:ea typeface="Cy Grotesk V3 Key Bold"/>
                <a:cs typeface="Cy Grotesk V3 Key Bold"/>
                <a:sym typeface="Cy Grotesk V3 Key Bold"/>
              </a:rPr>
              <a:t>Ahmed Hassan</a:t>
            </a:r>
          </a:p>
        </p:txBody>
      </p:sp>
      <p:sp>
        <p:nvSpPr>
          <p:cNvPr name="TextBox 42" id="42"/>
          <p:cNvSpPr txBox="true"/>
          <p:nvPr/>
        </p:nvSpPr>
        <p:spPr>
          <a:xfrm rot="0">
            <a:off x="1489820" y="9323822"/>
            <a:ext cx="2517138" cy="290195"/>
          </a:xfrm>
          <a:prstGeom prst="rect">
            <a:avLst/>
          </a:prstGeom>
        </p:spPr>
        <p:txBody>
          <a:bodyPr anchor="t" rtlCol="false" tIns="0" lIns="0" bIns="0" rIns="0">
            <a:spAutoFit/>
          </a:bodyPr>
          <a:lstStyle/>
          <a:p>
            <a:pPr algn="ctr">
              <a:lnSpc>
                <a:spcPts val="2380"/>
              </a:lnSpc>
              <a:spcBef>
                <a:spcPct val="0"/>
              </a:spcBef>
            </a:pPr>
            <a:r>
              <a:rPr lang="en-US" sz="1700">
                <a:solidFill>
                  <a:srgbClr val="000000"/>
                </a:solidFill>
                <a:latin typeface="Cy Grotesk V3 Key"/>
                <a:ea typeface="Cy Grotesk V3 Key"/>
                <a:cs typeface="Cy Grotesk V3 Key"/>
                <a:sym typeface="Cy Grotesk V3 Key"/>
              </a:rPr>
              <a:t>E-Commerce Manager</a:t>
            </a:r>
          </a:p>
        </p:txBody>
      </p:sp>
      <p:sp>
        <p:nvSpPr>
          <p:cNvPr name="TextBox 43" id="43"/>
          <p:cNvSpPr txBox="true"/>
          <p:nvPr/>
        </p:nvSpPr>
        <p:spPr>
          <a:xfrm rot="0">
            <a:off x="6776797" y="6497112"/>
            <a:ext cx="4825675" cy="2062594"/>
          </a:xfrm>
          <a:prstGeom prst="rect">
            <a:avLst/>
          </a:prstGeom>
        </p:spPr>
        <p:txBody>
          <a:bodyPr anchor="t" rtlCol="false" tIns="0" lIns="0" bIns="0" rIns="0">
            <a:spAutoFit/>
          </a:bodyPr>
          <a:lstStyle/>
          <a:p>
            <a:pPr algn="l">
              <a:lnSpc>
                <a:spcPts val="2338"/>
              </a:lnSpc>
              <a:spcBef>
                <a:spcPct val="0"/>
              </a:spcBef>
            </a:pPr>
            <a:r>
              <a:rPr lang="en-US" b="true" sz="1670">
                <a:solidFill>
                  <a:srgbClr val="000000"/>
                </a:solidFill>
                <a:latin typeface="Cy Grotesk V3 Key Bold"/>
                <a:ea typeface="Cy Grotesk V3 Key Bold"/>
                <a:cs typeface="Cy Grotesk V3 Key Bold"/>
                <a:sym typeface="Cy Grotesk V3 Key Bold"/>
              </a:rPr>
              <a:t>"Outstanding technical skills in data cleaning and SQL querying. He handled our large dataset efficiently, identified operational bottlenecks, and provided actionable recommendations that saved us valuable time and resources."</a:t>
            </a:r>
          </a:p>
          <a:p>
            <a:pPr algn="l">
              <a:lnSpc>
                <a:spcPts val="2338"/>
              </a:lnSpc>
              <a:spcBef>
                <a:spcPct val="0"/>
              </a:spcBef>
            </a:pPr>
          </a:p>
        </p:txBody>
      </p:sp>
      <p:sp>
        <p:nvSpPr>
          <p:cNvPr name="TextBox 44" id="44"/>
          <p:cNvSpPr txBox="true"/>
          <p:nvPr/>
        </p:nvSpPr>
        <p:spPr>
          <a:xfrm rot="0">
            <a:off x="8701182" y="5288838"/>
            <a:ext cx="183106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Cy Grotesk V3 Key Bold"/>
                <a:ea typeface="Cy Grotesk V3 Key Bold"/>
                <a:cs typeface="Cy Grotesk V3 Key Bold"/>
                <a:sym typeface="Cy Grotesk V3 Key Bold"/>
              </a:rPr>
              <a:t>⭐⭐⭐⭐⭐</a:t>
            </a:r>
          </a:p>
        </p:txBody>
      </p:sp>
      <p:sp>
        <p:nvSpPr>
          <p:cNvPr name="TextBox 45" id="45"/>
          <p:cNvSpPr txBox="true"/>
          <p:nvPr/>
        </p:nvSpPr>
        <p:spPr>
          <a:xfrm rot="0">
            <a:off x="14235856" y="5288838"/>
            <a:ext cx="1328380"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Cy Grotesk V3 Key Bold"/>
                <a:ea typeface="Cy Grotesk V3 Key Bold"/>
                <a:cs typeface="Cy Grotesk V3 Key Bold"/>
                <a:sym typeface="Cy Grotesk V3 Key Bold"/>
              </a:rPr>
              <a:t>⭐⭐⭐⭐</a:t>
            </a:r>
          </a:p>
        </p:txBody>
      </p:sp>
      <p:sp>
        <p:nvSpPr>
          <p:cNvPr name="TextBox 46" id="46"/>
          <p:cNvSpPr txBox="true"/>
          <p:nvPr/>
        </p:nvSpPr>
        <p:spPr>
          <a:xfrm rot="0">
            <a:off x="6791570" y="9029500"/>
            <a:ext cx="2600151"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Cy Grotesk V3 Key Bold"/>
                <a:ea typeface="Cy Grotesk V3 Key Bold"/>
                <a:cs typeface="Cy Grotesk V3 Key Bold"/>
                <a:sym typeface="Cy Grotesk V3 Key Bold"/>
              </a:rPr>
              <a:t>Mohsen Ma</a:t>
            </a:r>
            <a:r>
              <a:rPr lang="en-US" b="true" sz="2100">
                <a:solidFill>
                  <a:srgbClr val="000000"/>
                </a:solidFill>
                <a:latin typeface="Cy Grotesk V3 Key Bold"/>
                <a:ea typeface="Cy Grotesk V3 Key Bold"/>
                <a:cs typeface="Cy Grotesk V3 Key Bold"/>
                <a:sym typeface="Cy Grotesk V3 Key Bold"/>
              </a:rPr>
              <a:t>hmoud</a:t>
            </a:r>
          </a:p>
        </p:txBody>
      </p:sp>
      <p:sp>
        <p:nvSpPr>
          <p:cNvPr name="TextBox 47" id="47"/>
          <p:cNvSpPr txBox="true"/>
          <p:nvPr/>
        </p:nvSpPr>
        <p:spPr>
          <a:xfrm rot="0">
            <a:off x="6749384" y="9357160"/>
            <a:ext cx="2440250" cy="290195"/>
          </a:xfrm>
          <a:prstGeom prst="rect">
            <a:avLst/>
          </a:prstGeom>
        </p:spPr>
        <p:txBody>
          <a:bodyPr anchor="t" rtlCol="false" tIns="0" lIns="0" bIns="0" rIns="0">
            <a:spAutoFit/>
          </a:bodyPr>
          <a:lstStyle/>
          <a:p>
            <a:pPr algn="ctr">
              <a:lnSpc>
                <a:spcPts val="2380"/>
              </a:lnSpc>
              <a:spcBef>
                <a:spcPct val="0"/>
              </a:spcBef>
            </a:pPr>
            <a:r>
              <a:rPr lang="en-US" sz="1700">
                <a:solidFill>
                  <a:srgbClr val="000000"/>
                </a:solidFill>
                <a:latin typeface="Cy Grotesk V3 Key"/>
                <a:ea typeface="Cy Grotesk V3 Key"/>
                <a:cs typeface="Cy Grotesk V3 Key"/>
                <a:sym typeface="Cy Grotesk V3 Key"/>
              </a:rPr>
              <a:t>Ma</a:t>
            </a:r>
            <a:r>
              <a:rPr lang="en-US" sz="1700">
                <a:solidFill>
                  <a:srgbClr val="000000"/>
                </a:solidFill>
                <a:latin typeface="Cy Grotesk V3 Key"/>
                <a:ea typeface="Cy Grotesk V3 Key"/>
                <a:cs typeface="Cy Grotesk V3 Key"/>
                <a:sym typeface="Cy Grotesk V3 Key"/>
              </a:rPr>
              <a:t>rketing Specialist</a:t>
            </a:r>
          </a:p>
        </p:txBody>
      </p:sp>
      <p:sp>
        <p:nvSpPr>
          <p:cNvPr name="TextBox 48" id="48"/>
          <p:cNvSpPr txBox="true"/>
          <p:nvPr/>
        </p:nvSpPr>
        <p:spPr>
          <a:xfrm rot="0">
            <a:off x="12355982" y="8989178"/>
            <a:ext cx="2125221"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0000"/>
                </a:solidFill>
                <a:latin typeface="Cy Grotesk V3 Key Bold"/>
                <a:ea typeface="Cy Grotesk V3 Key Bold"/>
                <a:cs typeface="Cy Grotesk V3 Key Bold"/>
                <a:sym typeface="Cy Grotesk V3 Key Bold"/>
              </a:rPr>
              <a:t>Mo</a:t>
            </a:r>
            <a:r>
              <a:rPr lang="en-US" b="true" sz="2100">
                <a:solidFill>
                  <a:srgbClr val="000000"/>
                </a:solidFill>
                <a:latin typeface="Cy Grotesk V3 Key Bold"/>
                <a:ea typeface="Cy Grotesk V3 Key Bold"/>
                <a:cs typeface="Cy Grotesk V3 Key Bold"/>
                <a:sym typeface="Cy Grotesk V3 Key Bold"/>
              </a:rPr>
              <a:t>hamed Ali</a:t>
            </a:r>
          </a:p>
        </p:txBody>
      </p:sp>
      <p:sp>
        <p:nvSpPr>
          <p:cNvPr name="TextBox 49" id="49"/>
          <p:cNvSpPr txBox="true"/>
          <p:nvPr/>
        </p:nvSpPr>
        <p:spPr>
          <a:xfrm rot="0">
            <a:off x="12341208" y="9316838"/>
            <a:ext cx="2558838" cy="290195"/>
          </a:xfrm>
          <a:prstGeom prst="rect">
            <a:avLst/>
          </a:prstGeom>
        </p:spPr>
        <p:txBody>
          <a:bodyPr anchor="t" rtlCol="false" tIns="0" lIns="0" bIns="0" rIns="0">
            <a:spAutoFit/>
          </a:bodyPr>
          <a:lstStyle/>
          <a:p>
            <a:pPr algn="ctr">
              <a:lnSpc>
                <a:spcPts val="2380"/>
              </a:lnSpc>
              <a:spcBef>
                <a:spcPct val="0"/>
              </a:spcBef>
            </a:pPr>
            <a:r>
              <a:rPr lang="en-US" sz="1700">
                <a:solidFill>
                  <a:srgbClr val="000000"/>
                </a:solidFill>
                <a:latin typeface="Cy Grotesk V3 Key"/>
                <a:ea typeface="Cy Grotesk V3 Key"/>
                <a:cs typeface="Cy Grotesk V3 Key"/>
                <a:sym typeface="Cy Grotesk V3 Key"/>
              </a:rPr>
              <a:t>Op</a:t>
            </a:r>
            <a:r>
              <a:rPr lang="en-US" sz="1700">
                <a:solidFill>
                  <a:srgbClr val="000000"/>
                </a:solidFill>
                <a:latin typeface="Cy Grotesk V3 Key"/>
                <a:ea typeface="Cy Grotesk V3 Key"/>
                <a:cs typeface="Cy Grotesk V3 Key"/>
                <a:sym typeface="Cy Grotesk V3 Key"/>
              </a:rPr>
              <a:t>erations Director</a:t>
            </a:r>
          </a:p>
        </p:txBody>
      </p:sp>
      <p:sp>
        <p:nvSpPr>
          <p:cNvPr name="TextBox 50" id="50"/>
          <p:cNvSpPr txBox="true"/>
          <p:nvPr/>
        </p:nvSpPr>
        <p:spPr>
          <a:xfrm rot="0">
            <a:off x="7176821" y="1732388"/>
            <a:ext cx="2638306" cy="391795"/>
          </a:xfrm>
          <a:prstGeom prst="rect">
            <a:avLst/>
          </a:prstGeom>
        </p:spPr>
        <p:txBody>
          <a:bodyPr anchor="t" rtlCol="false" tIns="0" lIns="0" bIns="0" rIns="0">
            <a:spAutoFit/>
          </a:bodyPr>
          <a:lstStyle/>
          <a:p>
            <a:pPr algn="ctr">
              <a:lnSpc>
                <a:spcPts val="3080"/>
              </a:lnSpc>
              <a:spcBef>
                <a:spcPct val="0"/>
              </a:spcBef>
            </a:pPr>
            <a:r>
              <a:rPr lang="en-US" b="true" sz="2200">
                <a:solidFill>
                  <a:srgbClr val="000000"/>
                </a:solidFill>
                <a:latin typeface="Arimo Bold"/>
                <a:ea typeface="Arimo Bold"/>
                <a:cs typeface="Arimo Bold"/>
                <a:sym typeface="Arimo Bold"/>
              </a:rPr>
              <a:t>CLIENT FEEDBACK</a:t>
            </a:r>
          </a:p>
        </p:txBody>
      </p:sp>
      <p:sp>
        <p:nvSpPr>
          <p:cNvPr name="TextBox 51" id="51"/>
          <p:cNvSpPr txBox="true"/>
          <p:nvPr/>
        </p:nvSpPr>
        <p:spPr>
          <a:xfrm rot="0">
            <a:off x="4778132" y="2223165"/>
            <a:ext cx="7846100" cy="1193800"/>
          </a:xfrm>
          <a:prstGeom prst="rect">
            <a:avLst/>
          </a:prstGeom>
        </p:spPr>
        <p:txBody>
          <a:bodyPr anchor="t" rtlCol="false" tIns="0" lIns="0" bIns="0" rIns="0">
            <a:spAutoFit/>
          </a:bodyPr>
          <a:lstStyle/>
          <a:p>
            <a:pPr algn="ctr">
              <a:lnSpc>
                <a:spcPts val="9799"/>
              </a:lnSpc>
              <a:spcBef>
                <a:spcPct val="0"/>
              </a:spcBef>
            </a:pPr>
            <a:r>
              <a:rPr lang="en-US" sz="6999">
                <a:solidFill>
                  <a:srgbClr val="000000"/>
                </a:solidFill>
                <a:latin typeface="League Spartan"/>
                <a:ea typeface="League Spartan"/>
                <a:cs typeface="League Spartan"/>
                <a:sym typeface="League Spartan"/>
              </a:rPr>
              <a:t>What People </a:t>
            </a:r>
            <a:r>
              <a:rPr lang="en-US" sz="6999">
                <a:solidFill>
                  <a:srgbClr val="00694C"/>
                </a:solidFill>
                <a:latin typeface="League Spartan"/>
                <a:ea typeface="League Spartan"/>
                <a:cs typeface="League Spartan"/>
                <a:sym typeface="League Spartan"/>
              </a:rPr>
              <a:t>Say</a:t>
            </a:r>
          </a:p>
        </p:txBody>
      </p:sp>
      <p:sp>
        <p:nvSpPr>
          <p:cNvPr name="TextBox 52" id="52"/>
          <p:cNvSpPr txBox="true"/>
          <p:nvPr/>
        </p:nvSpPr>
        <p:spPr>
          <a:xfrm rot="0">
            <a:off x="5195246" y="3483640"/>
            <a:ext cx="7331631" cy="382270"/>
          </a:xfrm>
          <a:prstGeom prst="rect">
            <a:avLst/>
          </a:prstGeom>
        </p:spPr>
        <p:txBody>
          <a:bodyPr anchor="t" rtlCol="false" tIns="0" lIns="0" bIns="0" rIns="0">
            <a:spAutoFit/>
          </a:bodyPr>
          <a:lstStyle/>
          <a:p>
            <a:pPr algn="ctr">
              <a:lnSpc>
                <a:spcPts val="3080"/>
              </a:lnSpc>
              <a:spcBef>
                <a:spcPct val="0"/>
              </a:spcBef>
            </a:pPr>
            <a:r>
              <a:rPr lang="en-US" b="true" sz="2200">
                <a:solidFill>
                  <a:srgbClr val="000000"/>
                </a:solidFill>
                <a:latin typeface="DM Sans Bold"/>
                <a:ea typeface="DM Sans Bold"/>
                <a:cs typeface="DM Sans Bold"/>
                <a:sym typeface="DM Sans Bold"/>
              </a:rPr>
              <a:t>A few words from people I`ve worked and learned with.</a:t>
            </a:r>
          </a:p>
        </p:txBody>
      </p:sp>
      <p:sp>
        <p:nvSpPr>
          <p:cNvPr name="Freeform 53" id="53"/>
          <p:cNvSpPr/>
          <p:nvPr/>
        </p:nvSpPr>
        <p:spPr>
          <a:xfrm flipH="false" flipV="false" rot="0">
            <a:off x="2172670" y="2250418"/>
            <a:ext cx="413584" cy="413584"/>
          </a:xfrm>
          <a:custGeom>
            <a:avLst/>
            <a:gdLst/>
            <a:ahLst/>
            <a:cxnLst/>
            <a:rect r="r" b="b" t="t" l="l"/>
            <a:pathLst>
              <a:path h="413584" w="413584">
                <a:moveTo>
                  <a:pt x="0" y="0"/>
                </a:moveTo>
                <a:lnTo>
                  <a:pt x="413584" y="0"/>
                </a:lnTo>
                <a:lnTo>
                  <a:pt x="413584" y="413584"/>
                </a:lnTo>
                <a:lnTo>
                  <a:pt x="0" y="4135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54" id="54"/>
          <p:cNvSpPr/>
          <p:nvPr/>
        </p:nvSpPr>
        <p:spPr>
          <a:xfrm flipH="false" flipV="false" rot="0">
            <a:off x="2110990" y="3066346"/>
            <a:ext cx="286930" cy="286930"/>
          </a:xfrm>
          <a:custGeom>
            <a:avLst/>
            <a:gdLst/>
            <a:ahLst/>
            <a:cxnLst/>
            <a:rect r="r" b="b" t="t" l="l"/>
            <a:pathLst>
              <a:path h="286930" w="286930">
                <a:moveTo>
                  <a:pt x="0" y="0"/>
                </a:moveTo>
                <a:lnTo>
                  <a:pt x="286930" y="0"/>
                </a:lnTo>
                <a:lnTo>
                  <a:pt x="286930" y="286931"/>
                </a:lnTo>
                <a:lnTo>
                  <a:pt x="0" y="28693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BFC"/>
        </a:solidFill>
      </p:bgPr>
    </p:bg>
    <p:spTree>
      <p:nvGrpSpPr>
        <p:cNvPr id="1" name=""/>
        <p:cNvGrpSpPr/>
        <p:nvPr/>
      </p:nvGrpSpPr>
      <p:grpSpPr>
        <a:xfrm>
          <a:off x="0" y="0"/>
          <a:ext cx="0" cy="0"/>
          <a:chOff x="0" y="0"/>
          <a:chExt cx="0" cy="0"/>
        </a:xfrm>
      </p:grpSpPr>
      <p:sp>
        <p:nvSpPr>
          <p:cNvPr name="TextBox 2" id="2"/>
          <p:cNvSpPr txBox="true"/>
          <p:nvPr/>
        </p:nvSpPr>
        <p:spPr>
          <a:xfrm rot="0">
            <a:off x="580247" y="2365797"/>
            <a:ext cx="11698228" cy="1694029"/>
          </a:xfrm>
          <a:prstGeom prst="rect">
            <a:avLst/>
          </a:prstGeom>
        </p:spPr>
        <p:txBody>
          <a:bodyPr anchor="t" rtlCol="false" tIns="0" lIns="0" bIns="0" rIns="0">
            <a:spAutoFit/>
          </a:bodyPr>
          <a:lstStyle/>
          <a:p>
            <a:pPr algn="l" marL="0" indent="0" lvl="1">
              <a:lnSpc>
                <a:spcPts val="12341"/>
              </a:lnSpc>
            </a:pPr>
            <a:r>
              <a:rPr lang="en-US" sz="13712" spc="-630">
                <a:solidFill>
                  <a:srgbClr val="000000"/>
                </a:solidFill>
                <a:latin typeface="Fredoka"/>
                <a:ea typeface="Fredoka"/>
                <a:cs typeface="Fredoka"/>
                <a:sym typeface="Fredoka"/>
              </a:rPr>
              <a:t>Let’s</a:t>
            </a:r>
            <a:r>
              <a:rPr lang="en-US" sz="13712" spc="-630">
                <a:solidFill>
                  <a:srgbClr val="00694C"/>
                </a:solidFill>
                <a:latin typeface="Fredoka"/>
                <a:ea typeface="Fredoka"/>
                <a:cs typeface="Fredoka"/>
                <a:sym typeface="Fredoka"/>
              </a:rPr>
              <a:t> connect</a:t>
            </a:r>
          </a:p>
        </p:txBody>
      </p:sp>
      <p:sp>
        <p:nvSpPr>
          <p:cNvPr name="TextBox 3" id="3"/>
          <p:cNvSpPr txBox="true"/>
          <p:nvPr/>
        </p:nvSpPr>
        <p:spPr>
          <a:xfrm rot="0">
            <a:off x="782759" y="1630367"/>
            <a:ext cx="2360182" cy="375285"/>
          </a:xfrm>
          <a:prstGeom prst="rect">
            <a:avLst/>
          </a:prstGeom>
        </p:spPr>
        <p:txBody>
          <a:bodyPr anchor="t" rtlCol="false" tIns="0" lIns="0" bIns="0" rIns="0">
            <a:spAutoFit/>
          </a:bodyPr>
          <a:lstStyle/>
          <a:p>
            <a:pPr algn="ctr">
              <a:lnSpc>
                <a:spcPts val="2940"/>
              </a:lnSpc>
              <a:spcBef>
                <a:spcPct val="0"/>
              </a:spcBef>
            </a:pPr>
            <a:r>
              <a:rPr lang="en-US" sz="2100">
                <a:solidFill>
                  <a:srgbClr val="00694C"/>
                </a:solidFill>
                <a:latin typeface="Brick Sans"/>
                <a:ea typeface="Brick Sans"/>
                <a:cs typeface="Brick Sans"/>
                <a:sym typeface="Brick Sans"/>
              </a:rPr>
              <a:t>Contact</a:t>
            </a:r>
          </a:p>
        </p:txBody>
      </p:sp>
      <p:sp>
        <p:nvSpPr>
          <p:cNvPr name="AutoShape 4" id="4"/>
          <p:cNvSpPr/>
          <p:nvPr/>
        </p:nvSpPr>
        <p:spPr>
          <a:xfrm flipV="true">
            <a:off x="2964998" y="1903734"/>
            <a:ext cx="859749" cy="0"/>
          </a:xfrm>
          <a:prstGeom prst="line">
            <a:avLst/>
          </a:prstGeom>
          <a:ln cap="flat" w="38100">
            <a:solidFill>
              <a:srgbClr val="346551"/>
            </a:solidFill>
            <a:prstDash val="lgDash"/>
            <a:headEnd type="none" len="sm" w="sm"/>
            <a:tailEnd type="none" len="sm" w="sm"/>
          </a:ln>
        </p:spPr>
      </p:sp>
      <p:sp>
        <p:nvSpPr>
          <p:cNvPr name="Freeform 5" id="5"/>
          <p:cNvSpPr/>
          <p:nvPr/>
        </p:nvSpPr>
        <p:spPr>
          <a:xfrm flipH="false" flipV="false" rot="0">
            <a:off x="10445126" y="1546006"/>
            <a:ext cx="7421131" cy="4257874"/>
          </a:xfrm>
          <a:custGeom>
            <a:avLst/>
            <a:gdLst/>
            <a:ahLst/>
            <a:cxnLst/>
            <a:rect r="r" b="b" t="t" l="l"/>
            <a:pathLst>
              <a:path h="4257874" w="7421131">
                <a:moveTo>
                  <a:pt x="0" y="0"/>
                </a:moveTo>
                <a:lnTo>
                  <a:pt x="7421131" y="0"/>
                </a:lnTo>
                <a:lnTo>
                  <a:pt x="7421131" y="4257874"/>
                </a:lnTo>
                <a:lnTo>
                  <a:pt x="0" y="4257874"/>
                </a:lnTo>
                <a:lnTo>
                  <a:pt x="0" y="0"/>
                </a:lnTo>
                <a:close/>
              </a:path>
            </a:pathLst>
          </a:custGeom>
          <a:blipFill>
            <a:blip r:embed="rId2"/>
            <a:stretch>
              <a:fillRect l="0" t="0" r="0" b="0"/>
            </a:stretch>
          </a:blipFill>
        </p:spPr>
      </p:sp>
      <p:grpSp>
        <p:nvGrpSpPr>
          <p:cNvPr name="Group 6" id="6"/>
          <p:cNvGrpSpPr/>
          <p:nvPr/>
        </p:nvGrpSpPr>
        <p:grpSpPr>
          <a:xfrm rot="0">
            <a:off x="983066" y="6223923"/>
            <a:ext cx="4331587" cy="3876095"/>
            <a:chOff x="0" y="0"/>
            <a:chExt cx="1140829" cy="1020864"/>
          </a:xfrm>
        </p:grpSpPr>
        <p:sp>
          <p:nvSpPr>
            <p:cNvPr name="Freeform 7" id="7"/>
            <p:cNvSpPr/>
            <p:nvPr/>
          </p:nvSpPr>
          <p:spPr>
            <a:xfrm flipH="false" flipV="false" rot="0">
              <a:off x="0" y="0"/>
              <a:ext cx="1140829" cy="1020865"/>
            </a:xfrm>
            <a:custGeom>
              <a:avLst/>
              <a:gdLst/>
              <a:ahLst/>
              <a:cxnLst/>
              <a:rect r="r" b="b" t="t" l="l"/>
              <a:pathLst>
                <a:path h="1020865" w="1140829">
                  <a:moveTo>
                    <a:pt x="62556" y="0"/>
                  </a:moveTo>
                  <a:lnTo>
                    <a:pt x="1078273" y="0"/>
                  </a:lnTo>
                  <a:cubicBezTo>
                    <a:pt x="1112822" y="0"/>
                    <a:pt x="1140829" y="28007"/>
                    <a:pt x="1140829" y="62556"/>
                  </a:cubicBezTo>
                  <a:lnTo>
                    <a:pt x="1140829" y="958308"/>
                  </a:lnTo>
                  <a:cubicBezTo>
                    <a:pt x="1140829" y="974899"/>
                    <a:pt x="1134239" y="990811"/>
                    <a:pt x="1122507" y="1002542"/>
                  </a:cubicBezTo>
                  <a:cubicBezTo>
                    <a:pt x="1110776" y="1014274"/>
                    <a:pt x="1094864" y="1020865"/>
                    <a:pt x="1078273" y="1020865"/>
                  </a:cubicBezTo>
                  <a:lnTo>
                    <a:pt x="62556" y="1020865"/>
                  </a:lnTo>
                  <a:cubicBezTo>
                    <a:pt x="45965" y="1020865"/>
                    <a:pt x="30054" y="1014274"/>
                    <a:pt x="18322" y="1002542"/>
                  </a:cubicBezTo>
                  <a:cubicBezTo>
                    <a:pt x="6591" y="990811"/>
                    <a:pt x="0" y="974899"/>
                    <a:pt x="0" y="958308"/>
                  </a:cubicBezTo>
                  <a:lnTo>
                    <a:pt x="0" y="62556"/>
                  </a:lnTo>
                  <a:cubicBezTo>
                    <a:pt x="0" y="45965"/>
                    <a:pt x="6591" y="30054"/>
                    <a:pt x="18322" y="18322"/>
                  </a:cubicBezTo>
                  <a:cubicBezTo>
                    <a:pt x="30054" y="6591"/>
                    <a:pt x="45965" y="0"/>
                    <a:pt x="62556" y="0"/>
                  </a:cubicBezTo>
                  <a:close/>
                </a:path>
              </a:pathLst>
            </a:custGeom>
            <a:solidFill>
              <a:srgbClr val="FFFFFF"/>
            </a:solidFill>
            <a:ln w="38100" cap="rnd">
              <a:solidFill>
                <a:srgbClr val="346551"/>
              </a:solidFill>
              <a:prstDash val="solid"/>
              <a:round/>
            </a:ln>
          </p:spPr>
        </p:sp>
        <p:sp>
          <p:nvSpPr>
            <p:cNvPr name="TextBox 8" id="8"/>
            <p:cNvSpPr txBox="true"/>
            <p:nvPr/>
          </p:nvSpPr>
          <p:spPr>
            <a:xfrm>
              <a:off x="0" y="-38100"/>
              <a:ext cx="1140829" cy="105896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113539" y="6223923"/>
            <a:ext cx="4331587" cy="3876095"/>
            <a:chOff x="0" y="0"/>
            <a:chExt cx="1140829" cy="1020864"/>
          </a:xfrm>
        </p:grpSpPr>
        <p:sp>
          <p:nvSpPr>
            <p:cNvPr name="Freeform 10" id="10"/>
            <p:cNvSpPr/>
            <p:nvPr/>
          </p:nvSpPr>
          <p:spPr>
            <a:xfrm flipH="false" flipV="false" rot="0">
              <a:off x="0" y="0"/>
              <a:ext cx="1140829" cy="1020865"/>
            </a:xfrm>
            <a:custGeom>
              <a:avLst/>
              <a:gdLst/>
              <a:ahLst/>
              <a:cxnLst/>
              <a:rect r="r" b="b" t="t" l="l"/>
              <a:pathLst>
                <a:path h="1020865" w="1140829">
                  <a:moveTo>
                    <a:pt x="62556" y="0"/>
                  </a:moveTo>
                  <a:lnTo>
                    <a:pt x="1078273" y="0"/>
                  </a:lnTo>
                  <a:cubicBezTo>
                    <a:pt x="1112822" y="0"/>
                    <a:pt x="1140829" y="28007"/>
                    <a:pt x="1140829" y="62556"/>
                  </a:cubicBezTo>
                  <a:lnTo>
                    <a:pt x="1140829" y="958308"/>
                  </a:lnTo>
                  <a:cubicBezTo>
                    <a:pt x="1140829" y="974899"/>
                    <a:pt x="1134239" y="990811"/>
                    <a:pt x="1122507" y="1002542"/>
                  </a:cubicBezTo>
                  <a:cubicBezTo>
                    <a:pt x="1110776" y="1014274"/>
                    <a:pt x="1094864" y="1020865"/>
                    <a:pt x="1078273" y="1020865"/>
                  </a:cubicBezTo>
                  <a:lnTo>
                    <a:pt x="62556" y="1020865"/>
                  </a:lnTo>
                  <a:cubicBezTo>
                    <a:pt x="45965" y="1020865"/>
                    <a:pt x="30054" y="1014274"/>
                    <a:pt x="18322" y="1002542"/>
                  </a:cubicBezTo>
                  <a:cubicBezTo>
                    <a:pt x="6591" y="990811"/>
                    <a:pt x="0" y="974899"/>
                    <a:pt x="0" y="958308"/>
                  </a:cubicBezTo>
                  <a:lnTo>
                    <a:pt x="0" y="62556"/>
                  </a:lnTo>
                  <a:cubicBezTo>
                    <a:pt x="0" y="45965"/>
                    <a:pt x="6591" y="30054"/>
                    <a:pt x="18322" y="18322"/>
                  </a:cubicBezTo>
                  <a:cubicBezTo>
                    <a:pt x="30054" y="6591"/>
                    <a:pt x="45965" y="0"/>
                    <a:pt x="62556" y="0"/>
                  </a:cubicBezTo>
                  <a:close/>
                </a:path>
              </a:pathLst>
            </a:custGeom>
            <a:solidFill>
              <a:srgbClr val="FFFFFF"/>
            </a:solidFill>
            <a:ln w="38100" cap="rnd">
              <a:solidFill>
                <a:srgbClr val="346551"/>
              </a:solidFill>
              <a:prstDash val="solid"/>
              <a:round/>
            </a:ln>
          </p:spPr>
        </p:sp>
        <p:sp>
          <p:nvSpPr>
            <p:cNvPr name="TextBox 11" id="11"/>
            <p:cNvSpPr txBox="true"/>
            <p:nvPr/>
          </p:nvSpPr>
          <p:spPr>
            <a:xfrm>
              <a:off x="0" y="-38100"/>
              <a:ext cx="1140829" cy="1058964"/>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1245226" y="6223923"/>
            <a:ext cx="4331587" cy="3876095"/>
            <a:chOff x="0" y="0"/>
            <a:chExt cx="1140829" cy="1020864"/>
          </a:xfrm>
        </p:grpSpPr>
        <p:sp>
          <p:nvSpPr>
            <p:cNvPr name="Freeform 13" id="13"/>
            <p:cNvSpPr/>
            <p:nvPr/>
          </p:nvSpPr>
          <p:spPr>
            <a:xfrm flipH="false" flipV="false" rot="0">
              <a:off x="0" y="0"/>
              <a:ext cx="1140829" cy="1020865"/>
            </a:xfrm>
            <a:custGeom>
              <a:avLst/>
              <a:gdLst/>
              <a:ahLst/>
              <a:cxnLst/>
              <a:rect r="r" b="b" t="t" l="l"/>
              <a:pathLst>
                <a:path h="1020865" w="1140829">
                  <a:moveTo>
                    <a:pt x="62556" y="0"/>
                  </a:moveTo>
                  <a:lnTo>
                    <a:pt x="1078273" y="0"/>
                  </a:lnTo>
                  <a:cubicBezTo>
                    <a:pt x="1112822" y="0"/>
                    <a:pt x="1140829" y="28007"/>
                    <a:pt x="1140829" y="62556"/>
                  </a:cubicBezTo>
                  <a:lnTo>
                    <a:pt x="1140829" y="958308"/>
                  </a:lnTo>
                  <a:cubicBezTo>
                    <a:pt x="1140829" y="974899"/>
                    <a:pt x="1134239" y="990811"/>
                    <a:pt x="1122507" y="1002542"/>
                  </a:cubicBezTo>
                  <a:cubicBezTo>
                    <a:pt x="1110776" y="1014274"/>
                    <a:pt x="1094864" y="1020865"/>
                    <a:pt x="1078273" y="1020865"/>
                  </a:cubicBezTo>
                  <a:lnTo>
                    <a:pt x="62556" y="1020865"/>
                  </a:lnTo>
                  <a:cubicBezTo>
                    <a:pt x="45965" y="1020865"/>
                    <a:pt x="30054" y="1014274"/>
                    <a:pt x="18322" y="1002542"/>
                  </a:cubicBezTo>
                  <a:cubicBezTo>
                    <a:pt x="6591" y="990811"/>
                    <a:pt x="0" y="974899"/>
                    <a:pt x="0" y="958308"/>
                  </a:cubicBezTo>
                  <a:lnTo>
                    <a:pt x="0" y="62556"/>
                  </a:lnTo>
                  <a:cubicBezTo>
                    <a:pt x="0" y="45965"/>
                    <a:pt x="6591" y="30054"/>
                    <a:pt x="18322" y="18322"/>
                  </a:cubicBezTo>
                  <a:cubicBezTo>
                    <a:pt x="30054" y="6591"/>
                    <a:pt x="45965" y="0"/>
                    <a:pt x="62556" y="0"/>
                  </a:cubicBezTo>
                  <a:close/>
                </a:path>
              </a:pathLst>
            </a:custGeom>
            <a:solidFill>
              <a:srgbClr val="FFFFFF"/>
            </a:solidFill>
            <a:ln w="38100" cap="rnd">
              <a:solidFill>
                <a:srgbClr val="346551"/>
              </a:solidFill>
              <a:prstDash val="solid"/>
              <a:round/>
            </a:ln>
          </p:spPr>
        </p:sp>
        <p:sp>
          <p:nvSpPr>
            <p:cNvPr name="TextBox 14" id="14"/>
            <p:cNvSpPr txBox="true"/>
            <p:nvPr/>
          </p:nvSpPr>
          <p:spPr>
            <a:xfrm>
              <a:off x="0" y="-38100"/>
              <a:ext cx="1140829" cy="1058964"/>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186614" y="6445143"/>
            <a:ext cx="1067841" cy="1034625"/>
            <a:chOff x="0" y="0"/>
            <a:chExt cx="838894" cy="812800"/>
          </a:xfrm>
        </p:grpSpPr>
        <p:sp>
          <p:nvSpPr>
            <p:cNvPr name="Freeform 16" id="16"/>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7FEFA5">
                <a:alpha val="42745"/>
              </a:srgbClr>
            </a:solidFill>
          </p:spPr>
        </p:sp>
        <p:sp>
          <p:nvSpPr>
            <p:cNvPr name="TextBox 17" id="17"/>
            <p:cNvSpPr txBox="true"/>
            <p:nvPr/>
          </p:nvSpPr>
          <p:spPr>
            <a:xfrm>
              <a:off x="78646" y="9525"/>
              <a:ext cx="681601" cy="727075"/>
            </a:xfrm>
            <a:prstGeom prst="rect">
              <a:avLst/>
            </a:prstGeom>
          </p:spPr>
          <p:txBody>
            <a:bodyPr anchor="ctr" rtlCol="false" tIns="50800" lIns="50800" bIns="50800" rIns="50800"/>
            <a:lstStyle/>
            <a:p>
              <a:pPr algn="ctr">
                <a:lnSpc>
                  <a:spcPts val="4199"/>
                </a:lnSpc>
              </a:pPr>
            </a:p>
          </p:txBody>
        </p:sp>
      </p:grpSp>
      <p:grpSp>
        <p:nvGrpSpPr>
          <p:cNvPr name="Group 18" id="18"/>
          <p:cNvGrpSpPr/>
          <p:nvPr/>
        </p:nvGrpSpPr>
        <p:grpSpPr>
          <a:xfrm rot="0">
            <a:off x="6256795" y="6396731"/>
            <a:ext cx="1005715" cy="974433"/>
            <a:chOff x="0" y="0"/>
            <a:chExt cx="838894" cy="812800"/>
          </a:xfrm>
        </p:grpSpPr>
        <p:sp>
          <p:nvSpPr>
            <p:cNvPr name="Freeform 19" id="19"/>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0820F8">
                <a:alpha val="8235"/>
              </a:srgbClr>
            </a:solidFill>
          </p:spPr>
        </p:sp>
        <p:sp>
          <p:nvSpPr>
            <p:cNvPr name="TextBox 20" id="20"/>
            <p:cNvSpPr txBox="true"/>
            <p:nvPr/>
          </p:nvSpPr>
          <p:spPr>
            <a:xfrm>
              <a:off x="78646" y="9525"/>
              <a:ext cx="681601" cy="727075"/>
            </a:xfrm>
            <a:prstGeom prst="rect">
              <a:avLst/>
            </a:prstGeom>
          </p:spPr>
          <p:txBody>
            <a:bodyPr anchor="ctr" rtlCol="false" tIns="50800" lIns="50800" bIns="50800" rIns="50800"/>
            <a:lstStyle/>
            <a:p>
              <a:pPr algn="ctr">
                <a:lnSpc>
                  <a:spcPts val="4199"/>
                </a:lnSpc>
              </a:pPr>
            </a:p>
          </p:txBody>
        </p:sp>
      </p:grpSp>
      <p:grpSp>
        <p:nvGrpSpPr>
          <p:cNvPr name="Group 21" id="21"/>
          <p:cNvGrpSpPr/>
          <p:nvPr/>
        </p:nvGrpSpPr>
        <p:grpSpPr>
          <a:xfrm rot="0">
            <a:off x="11456177" y="6427448"/>
            <a:ext cx="974013" cy="943716"/>
            <a:chOff x="0" y="0"/>
            <a:chExt cx="838894" cy="812800"/>
          </a:xfrm>
        </p:grpSpPr>
        <p:sp>
          <p:nvSpPr>
            <p:cNvPr name="Freeform 22" id="22"/>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7158E6">
                <a:alpha val="9412"/>
              </a:srgbClr>
            </a:solidFill>
          </p:spPr>
        </p:sp>
        <p:sp>
          <p:nvSpPr>
            <p:cNvPr name="TextBox 23" id="23"/>
            <p:cNvSpPr txBox="true"/>
            <p:nvPr/>
          </p:nvSpPr>
          <p:spPr>
            <a:xfrm>
              <a:off x="78646" y="9525"/>
              <a:ext cx="681601" cy="727075"/>
            </a:xfrm>
            <a:prstGeom prst="rect">
              <a:avLst/>
            </a:prstGeom>
          </p:spPr>
          <p:txBody>
            <a:bodyPr anchor="ctr" rtlCol="false" tIns="50800" lIns="50800" bIns="50800" rIns="50800"/>
            <a:lstStyle/>
            <a:p>
              <a:pPr algn="ctr">
                <a:lnSpc>
                  <a:spcPts val="4199"/>
                </a:lnSpc>
              </a:pPr>
            </a:p>
          </p:txBody>
        </p:sp>
      </p:grpSp>
      <p:grpSp>
        <p:nvGrpSpPr>
          <p:cNvPr name="Group 24" id="24"/>
          <p:cNvGrpSpPr/>
          <p:nvPr/>
        </p:nvGrpSpPr>
        <p:grpSpPr>
          <a:xfrm rot="0">
            <a:off x="11934051" y="88448"/>
            <a:ext cx="1526299" cy="1478823"/>
            <a:chOff x="0" y="0"/>
            <a:chExt cx="838894" cy="812800"/>
          </a:xfrm>
        </p:grpSpPr>
        <p:sp>
          <p:nvSpPr>
            <p:cNvPr name="Freeform 25" id="25"/>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D4F6EC"/>
            </a:solidFill>
          </p:spPr>
        </p:sp>
        <p:sp>
          <p:nvSpPr>
            <p:cNvPr name="TextBox 26" id="26"/>
            <p:cNvSpPr txBox="true"/>
            <p:nvPr/>
          </p:nvSpPr>
          <p:spPr>
            <a:xfrm>
              <a:off x="78646" y="28575"/>
              <a:ext cx="681601" cy="708025"/>
            </a:xfrm>
            <a:prstGeom prst="rect">
              <a:avLst/>
            </a:prstGeom>
          </p:spPr>
          <p:txBody>
            <a:bodyPr anchor="ctr" rtlCol="false" tIns="50800" lIns="50800" bIns="50800" rIns="50800"/>
            <a:lstStyle/>
            <a:p>
              <a:pPr algn="ctr">
                <a:lnSpc>
                  <a:spcPts val="2940"/>
                </a:lnSpc>
              </a:pPr>
            </a:p>
          </p:txBody>
        </p:sp>
      </p:grpSp>
      <p:sp>
        <p:nvSpPr>
          <p:cNvPr name="Freeform 27" id="27"/>
          <p:cNvSpPr/>
          <p:nvPr/>
        </p:nvSpPr>
        <p:spPr>
          <a:xfrm flipH="false" flipV="false" rot="0">
            <a:off x="6405871" y="6539978"/>
            <a:ext cx="687940" cy="687940"/>
          </a:xfrm>
          <a:custGeom>
            <a:avLst/>
            <a:gdLst/>
            <a:ahLst/>
            <a:cxnLst/>
            <a:rect r="r" b="b" t="t" l="l"/>
            <a:pathLst>
              <a:path h="687940" w="687940">
                <a:moveTo>
                  <a:pt x="0" y="0"/>
                </a:moveTo>
                <a:lnTo>
                  <a:pt x="687939" y="0"/>
                </a:lnTo>
                <a:lnTo>
                  <a:pt x="687939" y="687939"/>
                </a:lnTo>
                <a:lnTo>
                  <a:pt x="0" y="687939"/>
                </a:lnTo>
                <a:lnTo>
                  <a:pt x="0" y="0"/>
                </a:lnTo>
                <a:close/>
              </a:path>
            </a:pathLst>
          </a:custGeom>
          <a:blipFill>
            <a:blip r:embed="rId3"/>
            <a:stretch>
              <a:fillRect l="0" t="0" r="0" b="0"/>
            </a:stretch>
          </a:blipFill>
        </p:spPr>
      </p:sp>
      <p:sp>
        <p:nvSpPr>
          <p:cNvPr name="Freeform 28" id="28">
            <a:hlinkClick r:id="rId5" tooltip="https://github.com/Ammar-shams"/>
          </p:cNvPr>
          <p:cNvSpPr/>
          <p:nvPr/>
        </p:nvSpPr>
        <p:spPr>
          <a:xfrm flipH="false" flipV="false" rot="0">
            <a:off x="11623547" y="6604653"/>
            <a:ext cx="623264" cy="623264"/>
          </a:xfrm>
          <a:custGeom>
            <a:avLst/>
            <a:gdLst/>
            <a:ahLst/>
            <a:cxnLst/>
            <a:rect r="r" b="b" t="t" l="l"/>
            <a:pathLst>
              <a:path h="623264" w="623264">
                <a:moveTo>
                  <a:pt x="0" y="0"/>
                </a:moveTo>
                <a:lnTo>
                  <a:pt x="623264" y="0"/>
                </a:lnTo>
                <a:lnTo>
                  <a:pt x="623264" y="623264"/>
                </a:lnTo>
                <a:lnTo>
                  <a:pt x="0" y="623264"/>
                </a:lnTo>
                <a:lnTo>
                  <a:pt x="0" y="0"/>
                </a:lnTo>
                <a:close/>
              </a:path>
            </a:pathLst>
          </a:custGeom>
          <a:blipFill>
            <a:blip r:embed="rId4"/>
            <a:stretch>
              <a:fillRect l="0" t="0" r="0" b="0"/>
            </a:stretch>
          </a:blipFill>
        </p:spPr>
      </p:sp>
      <p:grpSp>
        <p:nvGrpSpPr>
          <p:cNvPr name="Group 29" id="29"/>
          <p:cNvGrpSpPr/>
          <p:nvPr/>
        </p:nvGrpSpPr>
        <p:grpSpPr>
          <a:xfrm rot="0">
            <a:off x="2747085" y="9105266"/>
            <a:ext cx="791713" cy="767087"/>
            <a:chOff x="0" y="0"/>
            <a:chExt cx="838894" cy="812800"/>
          </a:xfrm>
        </p:grpSpPr>
        <p:sp>
          <p:nvSpPr>
            <p:cNvPr name="Freeform 30" id="30"/>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7FEFA5">
                <a:alpha val="42745"/>
              </a:srgbClr>
            </a:solidFill>
          </p:spPr>
        </p:sp>
        <p:sp>
          <p:nvSpPr>
            <p:cNvPr name="TextBox 31" id="31"/>
            <p:cNvSpPr txBox="true"/>
            <p:nvPr/>
          </p:nvSpPr>
          <p:spPr>
            <a:xfrm>
              <a:off x="78646" y="28575"/>
              <a:ext cx="681601" cy="708025"/>
            </a:xfrm>
            <a:prstGeom prst="rect">
              <a:avLst/>
            </a:prstGeom>
          </p:spPr>
          <p:txBody>
            <a:bodyPr anchor="ctr" rtlCol="false" tIns="50800" lIns="50800" bIns="50800" rIns="50800"/>
            <a:lstStyle/>
            <a:p>
              <a:pPr algn="ctr">
                <a:lnSpc>
                  <a:spcPts val="4199"/>
                </a:lnSpc>
              </a:pPr>
              <a:r>
                <a:rPr lang="en-US" sz="2999">
                  <a:solidFill>
                    <a:srgbClr val="000000"/>
                  </a:solidFill>
                  <a:latin typeface="Fredoka"/>
                  <a:ea typeface="Fredoka"/>
                  <a:cs typeface="Fredoka"/>
                  <a:sym typeface="Fredoka"/>
                </a:rPr>
                <a:t>→</a:t>
              </a:r>
            </a:p>
          </p:txBody>
        </p:sp>
      </p:grpSp>
      <p:grpSp>
        <p:nvGrpSpPr>
          <p:cNvPr name="Group 32" id="32"/>
          <p:cNvGrpSpPr/>
          <p:nvPr/>
        </p:nvGrpSpPr>
        <p:grpSpPr>
          <a:xfrm rot="0">
            <a:off x="7883476" y="9051015"/>
            <a:ext cx="791713" cy="767087"/>
            <a:chOff x="0" y="0"/>
            <a:chExt cx="838894" cy="812800"/>
          </a:xfrm>
        </p:grpSpPr>
        <p:sp>
          <p:nvSpPr>
            <p:cNvPr name="Freeform 33" id="33"/>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B6DCFF"/>
            </a:solidFill>
          </p:spPr>
        </p:sp>
        <p:sp>
          <p:nvSpPr>
            <p:cNvPr name="TextBox 34" id="34"/>
            <p:cNvSpPr txBox="true"/>
            <p:nvPr/>
          </p:nvSpPr>
          <p:spPr>
            <a:xfrm>
              <a:off x="78646" y="28575"/>
              <a:ext cx="681601" cy="708025"/>
            </a:xfrm>
            <a:prstGeom prst="rect">
              <a:avLst/>
            </a:prstGeom>
          </p:spPr>
          <p:txBody>
            <a:bodyPr anchor="ctr" rtlCol="false" tIns="50800" lIns="50800" bIns="50800" rIns="50800"/>
            <a:lstStyle/>
            <a:p>
              <a:pPr algn="ctr">
                <a:lnSpc>
                  <a:spcPts val="4199"/>
                </a:lnSpc>
              </a:pPr>
              <a:r>
                <a:rPr lang="en-US" sz="2999" u="sng">
                  <a:solidFill>
                    <a:srgbClr val="000000"/>
                  </a:solidFill>
                  <a:latin typeface="Fredoka"/>
                  <a:ea typeface="Fredoka"/>
                  <a:cs typeface="Fredoka"/>
                  <a:sym typeface="Fredoka"/>
                  <a:hlinkClick r:id="rId6" tooltip="https://www.linkedin.com/in/ammar-shams-el-din-699a72414?utm_source=share_via&amp;utm_content=profile&amp;utm_medium=member_android"/>
                </a:rPr>
                <a:t>→</a:t>
              </a:r>
            </a:p>
          </p:txBody>
        </p:sp>
      </p:grpSp>
      <p:grpSp>
        <p:nvGrpSpPr>
          <p:cNvPr name="Group 35" id="35"/>
          <p:cNvGrpSpPr/>
          <p:nvPr/>
        </p:nvGrpSpPr>
        <p:grpSpPr>
          <a:xfrm rot="0">
            <a:off x="13015162" y="9108165"/>
            <a:ext cx="791713" cy="767087"/>
            <a:chOff x="0" y="0"/>
            <a:chExt cx="838894" cy="812800"/>
          </a:xfrm>
        </p:grpSpPr>
        <p:sp>
          <p:nvSpPr>
            <p:cNvPr name="Freeform 36" id="36"/>
            <p:cNvSpPr/>
            <p:nvPr/>
          </p:nvSpPr>
          <p:spPr>
            <a:xfrm flipH="false" flipV="false" rot="0">
              <a:off x="0" y="0"/>
              <a:ext cx="838894" cy="812800"/>
            </a:xfrm>
            <a:custGeom>
              <a:avLst/>
              <a:gdLst/>
              <a:ahLst/>
              <a:cxnLst/>
              <a:rect r="r" b="b" t="t" l="l"/>
              <a:pathLst>
                <a:path h="812800" w="838894">
                  <a:moveTo>
                    <a:pt x="419447" y="0"/>
                  </a:moveTo>
                  <a:cubicBezTo>
                    <a:pt x="187793" y="0"/>
                    <a:pt x="0" y="181951"/>
                    <a:pt x="0" y="406400"/>
                  </a:cubicBezTo>
                  <a:cubicBezTo>
                    <a:pt x="0" y="630849"/>
                    <a:pt x="187793" y="812800"/>
                    <a:pt x="419447" y="812800"/>
                  </a:cubicBezTo>
                  <a:cubicBezTo>
                    <a:pt x="651101" y="812800"/>
                    <a:pt x="838894" y="630849"/>
                    <a:pt x="838894" y="406400"/>
                  </a:cubicBezTo>
                  <a:cubicBezTo>
                    <a:pt x="838894" y="181951"/>
                    <a:pt x="651101" y="0"/>
                    <a:pt x="419447" y="0"/>
                  </a:cubicBezTo>
                  <a:close/>
                </a:path>
              </a:pathLst>
            </a:custGeom>
            <a:solidFill>
              <a:srgbClr val="D1C9F0"/>
            </a:solidFill>
          </p:spPr>
        </p:sp>
        <p:sp>
          <p:nvSpPr>
            <p:cNvPr name="TextBox 37" id="37"/>
            <p:cNvSpPr txBox="true"/>
            <p:nvPr/>
          </p:nvSpPr>
          <p:spPr>
            <a:xfrm>
              <a:off x="78646" y="28575"/>
              <a:ext cx="681601" cy="708025"/>
            </a:xfrm>
            <a:prstGeom prst="rect">
              <a:avLst/>
            </a:prstGeom>
          </p:spPr>
          <p:txBody>
            <a:bodyPr anchor="ctr" rtlCol="false" tIns="50800" lIns="50800" bIns="50800" rIns="50800"/>
            <a:lstStyle/>
            <a:p>
              <a:pPr algn="ctr">
                <a:lnSpc>
                  <a:spcPts val="4199"/>
                </a:lnSpc>
              </a:pPr>
              <a:r>
                <a:rPr lang="en-US" sz="2999" u="sng">
                  <a:solidFill>
                    <a:srgbClr val="000000"/>
                  </a:solidFill>
                  <a:latin typeface="Fredoka"/>
                  <a:ea typeface="Fredoka"/>
                  <a:cs typeface="Fredoka"/>
                  <a:sym typeface="Fredoka"/>
                  <a:hlinkClick r:id="rId7" tooltip="https://github.com/Ammar-shams"/>
                </a:rPr>
                <a:t>→</a:t>
              </a:r>
            </a:p>
          </p:txBody>
        </p:sp>
      </p:grpSp>
      <p:sp>
        <p:nvSpPr>
          <p:cNvPr name="Freeform 38" id="38"/>
          <p:cNvSpPr/>
          <p:nvPr/>
        </p:nvSpPr>
        <p:spPr>
          <a:xfrm flipH="false" flipV="false" rot="0">
            <a:off x="1396831" y="6752049"/>
            <a:ext cx="647407" cy="420815"/>
          </a:xfrm>
          <a:custGeom>
            <a:avLst/>
            <a:gdLst/>
            <a:ahLst/>
            <a:cxnLst/>
            <a:rect r="r" b="b" t="t" l="l"/>
            <a:pathLst>
              <a:path h="420815" w="647407">
                <a:moveTo>
                  <a:pt x="0" y="0"/>
                </a:moveTo>
                <a:lnTo>
                  <a:pt x="647407" y="0"/>
                </a:lnTo>
                <a:lnTo>
                  <a:pt x="647407" y="420814"/>
                </a:lnTo>
                <a:lnTo>
                  <a:pt x="0" y="4208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9" id="39"/>
          <p:cNvSpPr txBox="true"/>
          <p:nvPr/>
        </p:nvSpPr>
        <p:spPr>
          <a:xfrm rot="0">
            <a:off x="11709838" y="621167"/>
            <a:ext cx="1974726"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Contact</a:t>
            </a:r>
          </a:p>
        </p:txBody>
      </p:sp>
      <p:sp>
        <p:nvSpPr>
          <p:cNvPr name="TextBox 40" id="40"/>
          <p:cNvSpPr txBox="true"/>
          <p:nvPr/>
        </p:nvSpPr>
        <p:spPr>
          <a:xfrm rot="0">
            <a:off x="9025805" y="613059"/>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Feedback</a:t>
            </a:r>
          </a:p>
        </p:txBody>
      </p:sp>
      <p:sp>
        <p:nvSpPr>
          <p:cNvPr name="TextBox 41" id="41"/>
          <p:cNvSpPr txBox="true"/>
          <p:nvPr/>
        </p:nvSpPr>
        <p:spPr>
          <a:xfrm rot="0">
            <a:off x="2254455" y="593200"/>
            <a:ext cx="235525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About </a:t>
            </a:r>
          </a:p>
        </p:txBody>
      </p:sp>
      <p:sp>
        <p:nvSpPr>
          <p:cNvPr name="TextBox 42" id="42"/>
          <p:cNvSpPr txBox="true"/>
          <p:nvPr/>
        </p:nvSpPr>
        <p:spPr>
          <a:xfrm rot="0">
            <a:off x="6969891" y="593200"/>
            <a:ext cx="2055914"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Projects </a:t>
            </a:r>
          </a:p>
        </p:txBody>
      </p:sp>
      <p:sp>
        <p:nvSpPr>
          <p:cNvPr name="TextBox 43" id="43"/>
          <p:cNvSpPr txBox="true"/>
          <p:nvPr/>
        </p:nvSpPr>
        <p:spPr>
          <a:xfrm rot="0">
            <a:off x="4609709" y="593200"/>
            <a:ext cx="2360182" cy="365760"/>
          </a:xfrm>
          <a:prstGeom prst="rect">
            <a:avLst/>
          </a:prstGeom>
        </p:spPr>
        <p:txBody>
          <a:bodyPr anchor="t" rtlCol="false" tIns="0" lIns="0" bIns="0" rIns="0">
            <a:spAutoFit/>
          </a:bodyPr>
          <a:lstStyle/>
          <a:p>
            <a:pPr algn="ctr">
              <a:lnSpc>
                <a:spcPts val="2940"/>
              </a:lnSpc>
              <a:spcBef>
                <a:spcPct val="0"/>
              </a:spcBef>
            </a:pPr>
            <a:r>
              <a:rPr lang="en-US" b="true" sz="2100">
                <a:solidFill>
                  <a:srgbClr val="00694C"/>
                </a:solidFill>
                <a:latin typeface="Cy Grotesk V3 Key Bold"/>
                <a:ea typeface="Cy Grotesk V3 Key Bold"/>
                <a:cs typeface="Cy Grotesk V3 Key Bold"/>
                <a:sym typeface="Cy Grotesk V3 Key Bold"/>
              </a:rPr>
              <a:t>Education </a:t>
            </a:r>
          </a:p>
        </p:txBody>
      </p:sp>
      <p:sp>
        <p:nvSpPr>
          <p:cNvPr name="TextBox 44" id="44"/>
          <p:cNvSpPr txBox="true"/>
          <p:nvPr/>
        </p:nvSpPr>
        <p:spPr>
          <a:xfrm rot="0">
            <a:off x="1971232" y="6764738"/>
            <a:ext cx="2355254" cy="606426"/>
          </a:xfrm>
          <a:prstGeom prst="rect">
            <a:avLst/>
          </a:prstGeom>
        </p:spPr>
        <p:txBody>
          <a:bodyPr anchor="t" rtlCol="false" tIns="0" lIns="0" bIns="0" rIns="0">
            <a:spAutoFit/>
          </a:bodyPr>
          <a:lstStyle/>
          <a:p>
            <a:pPr algn="ctr">
              <a:lnSpc>
                <a:spcPts val="4899"/>
              </a:lnSpc>
              <a:spcBef>
                <a:spcPct val="0"/>
              </a:spcBef>
            </a:pPr>
            <a:r>
              <a:rPr lang="en-US" b="true" sz="3499">
                <a:solidFill>
                  <a:srgbClr val="00694C"/>
                </a:solidFill>
                <a:latin typeface="Cy Grotesk V3 Key Bold"/>
                <a:ea typeface="Cy Grotesk V3 Key Bold"/>
                <a:cs typeface="Cy Grotesk V3 Key Bold"/>
                <a:sym typeface="Cy Grotesk V3 Key Bold"/>
              </a:rPr>
              <a:t>Email</a:t>
            </a:r>
          </a:p>
        </p:txBody>
      </p:sp>
      <p:sp>
        <p:nvSpPr>
          <p:cNvPr name="TextBox 45" id="45"/>
          <p:cNvSpPr txBox="true"/>
          <p:nvPr/>
        </p:nvSpPr>
        <p:spPr>
          <a:xfrm rot="0">
            <a:off x="1736318" y="7793162"/>
            <a:ext cx="3196121" cy="864429"/>
          </a:xfrm>
          <a:prstGeom prst="rect">
            <a:avLst/>
          </a:prstGeom>
        </p:spPr>
        <p:txBody>
          <a:bodyPr anchor="t" rtlCol="false" tIns="0" lIns="0" bIns="0" rIns="0">
            <a:spAutoFit/>
          </a:bodyPr>
          <a:lstStyle/>
          <a:p>
            <a:pPr algn="ctr">
              <a:lnSpc>
                <a:spcPts val="2333"/>
              </a:lnSpc>
              <a:spcBef>
                <a:spcPct val="0"/>
              </a:spcBef>
            </a:pPr>
            <a:r>
              <a:rPr lang="en-US" b="true" sz="1666">
                <a:solidFill>
                  <a:srgbClr val="00694C"/>
                </a:solidFill>
                <a:latin typeface="Lora Bold"/>
                <a:ea typeface="Lora Bold"/>
                <a:cs typeface="Lora Bold"/>
                <a:sym typeface="Lora Bold"/>
              </a:rPr>
              <a:t>Explor, clean, and analysis datasets to discover meanuingful patterns.</a:t>
            </a:r>
          </a:p>
        </p:txBody>
      </p:sp>
      <p:sp>
        <p:nvSpPr>
          <p:cNvPr name="TextBox 46" id="46"/>
          <p:cNvSpPr txBox="true"/>
          <p:nvPr/>
        </p:nvSpPr>
        <p:spPr>
          <a:xfrm rot="0">
            <a:off x="7338843" y="6764738"/>
            <a:ext cx="2355254" cy="606426"/>
          </a:xfrm>
          <a:prstGeom prst="rect">
            <a:avLst/>
          </a:prstGeom>
        </p:spPr>
        <p:txBody>
          <a:bodyPr anchor="t" rtlCol="false" tIns="0" lIns="0" bIns="0" rIns="0">
            <a:spAutoFit/>
          </a:bodyPr>
          <a:lstStyle/>
          <a:p>
            <a:pPr algn="ctr">
              <a:lnSpc>
                <a:spcPts val="4899"/>
              </a:lnSpc>
              <a:spcBef>
                <a:spcPct val="0"/>
              </a:spcBef>
            </a:pPr>
            <a:r>
              <a:rPr lang="en-US" b="true" sz="3499">
                <a:solidFill>
                  <a:srgbClr val="00694C"/>
                </a:solidFill>
                <a:latin typeface="Cy Grotesk V3 Key Bold"/>
                <a:ea typeface="Cy Grotesk V3 Key Bold"/>
                <a:cs typeface="Cy Grotesk V3 Key Bold"/>
                <a:sym typeface="Cy Grotesk V3 Key Bold"/>
              </a:rPr>
              <a:t>Linked In</a:t>
            </a:r>
          </a:p>
        </p:txBody>
      </p:sp>
      <p:sp>
        <p:nvSpPr>
          <p:cNvPr name="TextBox 47" id="47"/>
          <p:cNvSpPr txBox="true"/>
          <p:nvPr/>
        </p:nvSpPr>
        <p:spPr>
          <a:xfrm rot="0">
            <a:off x="12401783" y="6764738"/>
            <a:ext cx="2355254" cy="606426"/>
          </a:xfrm>
          <a:prstGeom prst="rect">
            <a:avLst/>
          </a:prstGeom>
        </p:spPr>
        <p:txBody>
          <a:bodyPr anchor="t" rtlCol="false" tIns="0" lIns="0" bIns="0" rIns="0">
            <a:spAutoFit/>
          </a:bodyPr>
          <a:lstStyle/>
          <a:p>
            <a:pPr algn="ctr">
              <a:lnSpc>
                <a:spcPts val="4899"/>
              </a:lnSpc>
              <a:spcBef>
                <a:spcPct val="0"/>
              </a:spcBef>
            </a:pPr>
            <a:r>
              <a:rPr lang="en-US" b="true" sz="3499">
                <a:solidFill>
                  <a:srgbClr val="00694C"/>
                </a:solidFill>
                <a:latin typeface="Cy Grotesk V3 Key Bold"/>
                <a:ea typeface="Cy Grotesk V3 Key Bold"/>
                <a:cs typeface="Cy Grotesk V3 Key Bold"/>
                <a:sym typeface="Cy Grotesk V3 Key Bold"/>
              </a:rPr>
              <a:t>Git Hub</a:t>
            </a:r>
          </a:p>
        </p:txBody>
      </p:sp>
      <p:sp>
        <p:nvSpPr>
          <p:cNvPr name="TextBox 48" id="48"/>
          <p:cNvSpPr txBox="true"/>
          <p:nvPr/>
        </p:nvSpPr>
        <p:spPr>
          <a:xfrm rot="0">
            <a:off x="6869626" y="7793162"/>
            <a:ext cx="3196121" cy="864429"/>
          </a:xfrm>
          <a:prstGeom prst="rect">
            <a:avLst/>
          </a:prstGeom>
        </p:spPr>
        <p:txBody>
          <a:bodyPr anchor="t" rtlCol="false" tIns="0" lIns="0" bIns="0" rIns="0">
            <a:spAutoFit/>
          </a:bodyPr>
          <a:lstStyle/>
          <a:p>
            <a:pPr algn="ctr">
              <a:lnSpc>
                <a:spcPts val="2333"/>
              </a:lnSpc>
              <a:spcBef>
                <a:spcPct val="0"/>
              </a:spcBef>
            </a:pPr>
            <a:r>
              <a:rPr lang="en-US" b="true" sz="1666">
                <a:solidFill>
                  <a:srgbClr val="00694C"/>
                </a:solidFill>
                <a:latin typeface="Lora Bold"/>
                <a:ea typeface="Lora Bold"/>
                <a:cs typeface="Lora Bold"/>
                <a:sym typeface="Lora Bold"/>
              </a:rPr>
              <a:t>Explor, clean, and analysis datasets to discover meanuingful patterns.</a:t>
            </a:r>
          </a:p>
        </p:txBody>
      </p:sp>
      <p:sp>
        <p:nvSpPr>
          <p:cNvPr name="TextBox 49" id="49"/>
          <p:cNvSpPr txBox="true"/>
          <p:nvPr/>
        </p:nvSpPr>
        <p:spPr>
          <a:xfrm rot="0">
            <a:off x="11981349" y="7793162"/>
            <a:ext cx="3196121" cy="864429"/>
          </a:xfrm>
          <a:prstGeom prst="rect">
            <a:avLst/>
          </a:prstGeom>
        </p:spPr>
        <p:txBody>
          <a:bodyPr anchor="t" rtlCol="false" tIns="0" lIns="0" bIns="0" rIns="0">
            <a:spAutoFit/>
          </a:bodyPr>
          <a:lstStyle/>
          <a:p>
            <a:pPr algn="ctr">
              <a:lnSpc>
                <a:spcPts val="2333"/>
              </a:lnSpc>
              <a:spcBef>
                <a:spcPct val="0"/>
              </a:spcBef>
            </a:pPr>
            <a:r>
              <a:rPr lang="en-US" b="true" sz="1666">
                <a:solidFill>
                  <a:srgbClr val="00694C"/>
                </a:solidFill>
                <a:latin typeface="Lora Bold"/>
                <a:ea typeface="Lora Bold"/>
                <a:cs typeface="Lora Bold"/>
                <a:sym typeface="Lora Bold"/>
              </a:rPr>
              <a:t>Explor, clean, and analysis datasets to discover meanuingful patterns.</a:t>
            </a:r>
          </a:p>
        </p:txBody>
      </p:sp>
      <p:sp>
        <p:nvSpPr>
          <p:cNvPr name="TextBox 50" id="50"/>
          <p:cNvSpPr txBox="true"/>
          <p:nvPr/>
        </p:nvSpPr>
        <p:spPr>
          <a:xfrm rot="0">
            <a:off x="950274" y="4223672"/>
            <a:ext cx="7329058" cy="1154431"/>
          </a:xfrm>
          <a:prstGeom prst="rect">
            <a:avLst/>
          </a:prstGeom>
        </p:spPr>
        <p:txBody>
          <a:bodyPr anchor="t" rtlCol="false" tIns="0" lIns="0" bIns="0" rIns="0">
            <a:spAutoFit/>
          </a:bodyPr>
          <a:lstStyle/>
          <a:p>
            <a:pPr algn="l">
              <a:lnSpc>
                <a:spcPts val="4619"/>
              </a:lnSpc>
              <a:spcBef>
                <a:spcPct val="0"/>
              </a:spcBef>
            </a:pPr>
            <a:r>
              <a:rPr lang="en-US" b="true" sz="3299">
                <a:solidFill>
                  <a:srgbClr val="406857"/>
                </a:solidFill>
                <a:latin typeface="Raleway Semi-Bold"/>
                <a:ea typeface="Raleway Semi-Bold"/>
                <a:cs typeface="Raleway Semi-Bold"/>
                <a:sym typeface="Raleway Semi-Bold"/>
              </a:rPr>
              <a:t>Have</a:t>
            </a:r>
            <a:r>
              <a:rPr lang="en-US" b="true" sz="3299">
                <a:solidFill>
                  <a:srgbClr val="406857"/>
                </a:solidFill>
                <a:latin typeface="Raleway Semi-Bold"/>
                <a:ea typeface="Raleway Semi-Bold"/>
                <a:cs typeface="Raleway Semi-Bold"/>
                <a:sym typeface="Raleway Semi-Bold"/>
              </a:rPr>
              <a:t> a project, idea, or opportunity in mind? I'd love to hear from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DAHWCnbsyL8</dc:identifier>
  <dcterms:modified xsi:type="dcterms:W3CDTF">2011-08-01T06:04:30Z</dcterms:modified>
  <cp:revision>1</cp:revision>
  <dc:title>Green Modern Analysis of Results Presentation</dc:title>
</cp:coreProperties>
</file>